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1371106e9b432d" /><Relationship Type="http://schemas.openxmlformats.org/officeDocument/2006/relationships/extended-properties" Target="/docProps/app.xml" Id="R5115460ee1fe4f86" /><Relationship Type="http://schemas.openxmlformats.org/officeDocument/2006/relationships/officeDocument" Target="/ppt/presentation.xml" Id="R53ed336c943d47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a7f371fa6c4541"/>
  </p:sldMasterIdLst>
  <p:notesMasterIdLst>
    <p:notesMasterId xmlns:r="http://schemas.openxmlformats.org/officeDocument/2006/relationships" r:id="R0ff3d38767204893"/>
  </p:notesMasterIdLst>
  <p:sldIdLst>
    <p:sldId xmlns:r="http://schemas.openxmlformats.org/officeDocument/2006/relationships" id="256" r:id="R0cd8dece69f24ea1"/>
    <p:sldId xmlns:r="http://schemas.openxmlformats.org/officeDocument/2006/relationships" id="257" r:id="Rabb3c5d8169a4925"/>
    <p:sldId xmlns:r="http://schemas.openxmlformats.org/officeDocument/2006/relationships" id="258" r:id="R212aae0f0c534f93"/>
    <p:sldId xmlns:r="http://schemas.openxmlformats.org/officeDocument/2006/relationships" id="259" r:id="R78239023eacf4219"/>
    <p:sldId xmlns:r="http://schemas.openxmlformats.org/officeDocument/2006/relationships" id="260" r:id="R4423b644c3634a43"/>
    <p:sldId xmlns:r="http://schemas.openxmlformats.org/officeDocument/2006/relationships" id="261" r:id="R5ff897bbc2d346ff"/>
    <p:sldId xmlns:r="http://schemas.openxmlformats.org/officeDocument/2006/relationships" id="262" r:id="R740d31f797c84d62"/>
    <p:sldId xmlns:r="http://schemas.openxmlformats.org/officeDocument/2006/relationships" id="263" r:id="Re5f6453de71d4c45"/>
    <p:sldId xmlns:r="http://schemas.openxmlformats.org/officeDocument/2006/relationships" id="264" r:id="R749e55341e354390"/>
    <p:sldId xmlns:r="http://schemas.openxmlformats.org/officeDocument/2006/relationships" id="265" r:id="Rfd4060871b7c409e"/>
    <p:sldId xmlns:r="http://schemas.openxmlformats.org/officeDocument/2006/relationships" id="266" r:id="Rd8a24b3cfff14008"/>
    <p:sldId xmlns:r="http://schemas.openxmlformats.org/officeDocument/2006/relationships" id="267" r:id="R12eee26d447d4f5d"/>
    <p:sldId xmlns:r="http://schemas.openxmlformats.org/officeDocument/2006/relationships" id="268" r:id="Ra3c5971c750145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718bbf13774525" /><Relationship Type="http://schemas.openxmlformats.org/officeDocument/2006/relationships/slideMaster" Target="/ppt/slideMasters/slideMaster1.xml" Id="Raaa7f371fa6c4541" /><Relationship Type="http://schemas.openxmlformats.org/officeDocument/2006/relationships/notesMaster" Target="/ppt/notesMasters/notesMaster1.xml" Id="R0ff3d38767204893" /><Relationship Type="http://schemas.openxmlformats.org/officeDocument/2006/relationships/presProps" Target="/ppt/presProps.xml" Id="R9324ee2404fc4e50" /><Relationship Type="http://schemas.openxmlformats.org/officeDocument/2006/relationships/tableStyles" Target="/ppt/tableStyles.xml" Id="R146b192a8ed0490f" /><Relationship Type="http://schemas.openxmlformats.org/officeDocument/2006/relationships/slide" Target="/ppt/slides/slide1.xml" Id="R0cd8dece69f24ea1" /><Relationship Type="http://schemas.openxmlformats.org/officeDocument/2006/relationships/slide" Target="/ppt/slides/slide2.xml" Id="Rabb3c5d8169a4925" /><Relationship Type="http://schemas.openxmlformats.org/officeDocument/2006/relationships/slide" Target="/ppt/slides/slide3.xml" Id="R212aae0f0c534f93" /><Relationship Type="http://schemas.openxmlformats.org/officeDocument/2006/relationships/slide" Target="/ppt/slides/slide4.xml" Id="R78239023eacf4219" /><Relationship Type="http://schemas.openxmlformats.org/officeDocument/2006/relationships/slide" Target="/ppt/slides/slide5.xml" Id="R4423b644c3634a43" /><Relationship Type="http://schemas.openxmlformats.org/officeDocument/2006/relationships/slide" Target="/ppt/slides/slide6.xml" Id="R5ff897bbc2d346ff" /><Relationship Type="http://schemas.openxmlformats.org/officeDocument/2006/relationships/slide" Target="/ppt/slides/slide7.xml" Id="R740d31f797c84d62" /><Relationship Type="http://schemas.openxmlformats.org/officeDocument/2006/relationships/slide" Target="/ppt/slides/slide8.xml" Id="Re5f6453de71d4c45" /><Relationship Type="http://schemas.openxmlformats.org/officeDocument/2006/relationships/slide" Target="/ppt/slides/slide9.xml" Id="R749e55341e354390" /><Relationship Type="http://schemas.openxmlformats.org/officeDocument/2006/relationships/slide" Target="/ppt/slides/slide10.xml" Id="Rfd4060871b7c409e" /><Relationship Type="http://schemas.openxmlformats.org/officeDocument/2006/relationships/slide" Target="/ppt/slides/slide11.xml" Id="Rd8a24b3cfff14008" /><Relationship Type="http://schemas.openxmlformats.org/officeDocument/2006/relationships/slide" Target="/ppt/slides/slide12.xml" Id="R12eee26d447d4f5d" /><Relationship Type="http://schemas.openxmlformats.org/officeDocument/2006/relationships/slide" Target="/ppt/slides/slide13.xml" Id="Ra3c5971c750145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9942a140e64a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33ebb81b0c4af9" /><Relationship Type="http://schemas.openxmlformats.org/officeDocument/2006/relationships/notesMaster" Target="/ppt/notesMasters/notesMaster1.xml" Id="R4e61e61de2e64a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6638a8bbc44296" /><Relationship Type="http://schemas.openxmlformats.org/officeDocument/2006/relationships/notesMaster" Target="/ppt/notesMasters/notesMaster1.xml" Id="R8509dba074264c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0b1260b0224145" /><Relationship Type="http://schemas.openxmlformats.org/officeDocument/2006/relationships/notesMaster" Target="/ppt/notesMasters/notesMaster1.xml" Id="R2b50add020fb40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5ec0399b9643f4" /><Relationship Type="http://schemas.openxmlformats.org/officeDocument/2006/relationships/notesMaster" Target="/ppt/notesMasters/notesMaster1.xml" Id="R025a5aca891941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6b010e566c4c78" /><Relationship Type="http://schemas.openxmlformats.org/officeDocument/2006/relationships/notesMaster" Target="/ppt/notesMasters/notesMaster1.xml" Id="R15c5c84a31f344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cfe425b9074440" /><Relationship Type="http://schemas.openxmlformats.org/officeDocument/2006/relationships/notesMaster" Target="/ppt/notesMasters/notesMaster1.xml" Id="Rb3258c93553643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9cd9504c064cc6" /><Relationship Type="http://schemas.openxmlformats.org/officeDocument/2006/relationships/notesMaster" Target="/ppt/notesMasters/notesMaster1.xml" Id="R8ac0fd98d9d248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832c5ba40d4e3d" /><Relationship Type="http://schemas.openxmlformats.org/officeDocument/2006/relationships/notesMaster" Target="/ppt/notesMasters/notesMaster1.xml" Id="R20537fa59cb04d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7ef29ea8c145a6" /><Relationship Type="http://schemas.openxmlformats.org/officeDocument/2006/relationships/notesMaster" Target="/ppt/notesMasters/notesMaster1.xml" Id="Rc1a6eafd5a1246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28aa673aad400c" /><Relationship Type="http://schemas.openxmlformats.org/officeDocument/2006/relationships/notesMaster" Target="/ppt/notesMasters/notesMaster1.xml" Id="R6373950c8e4c45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ddb801df10485a" /><Relationship Type="http://schemas.openxmlformats.org/officeDocument/2006/relationships/notesMaster" Target="/ppt/notesMasters/notesMaster1.xml" Id="R669eb1c2d97841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b577bfeab0465f" /><Relationship Type="http://schemas.openxmlformats.org/officeDocument/2006/relationships/notesMaster" Target="/ppt/notesMasters/notesMaster1.xml" Id="R5acec6410fb94a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d6af8031d44796" /><Relationship Type="http://schemas.openxmlformats.org/officeDocument/2006/relationships/notesMaster" Target="/ppt/notesMasters/notesMaster1.xml" Id="Rd99f92277dfb41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B2W Executive Strategy System, internal strategy content supplied by B2W, accessed 2026-07-28.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c5838d9ab43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0664e33ca94c09" /><Relationship Type="http://schemas.openxmlformats.org/officeDocument/2006/relationships/slideLayout" Target="/ppt/slideLayouts/slideLayout1.xml" Id="Rd326f7f10fef4f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26f7f10fef4f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be53f010845a0" /><Relationship Type="http://schemas.openxmlformats.org/officeDocument/2006/relationships/notesSlide" Target="/ppt/notesSlides/notesSlide1.xml" Id="R67059313b1e94c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3b1621e8147cc" /><Relationship Type="http://schemas.openxmlformats.org/officeDocument/2006/relationships/notesSlide" Target="/ppt/notesSlides/notesSlide2.xml" Id="R41eeeb6132714d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a3a1b4cd74230" /><Relationship Type="http://schemas.openxmlformats.org/officeDocument/2006/relationships/notesSlide" Target="/ppt/notesSlides/notesSlide3.xml" Id="Rcca5f9d9cd4d4a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f90f9c1454bbf" /><Relationship Type="http://schemas.openxmlformats.org/officeDocument/2006/relationships/notesSlide" Target="/ppt/notesSlides/notesSlide4.xml" Id="R42009e0f5a2940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dfe75ed824c73" /><Relationship Type="http://schemas.openxmlformats.org/officeDocument/2006/relationships/notesSlide" Target="/ppt/notesSlides/notesSlide5.xml" Id="R96a505b3c37e47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1d84e4f164c55" /><Relationship Type="http://schemas.openxmlformats.org/officeDocument/2006/relationships/notesSlide" Target="/ppt/notesSlides/notesSlide6.xml" Id="R1a85cf7ca7d544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4b402b5744bd3" /><Relationship Type="http://schemas.openxmlformats.org/officeDocument/2006/relationships/notesSlide" Target="/ppt/notesSlides/notesSlide7.xml" Id="Ra11f2a2bee124e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d079c67a64022" /><Relationship Type="http://schemas.openxmlformats.org/officeDocument/2006/relationships/notesSlide" Target="/ppt/notesSlides/notesSlide8.xml" Id="R6e4b5827b77544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9391b1a5f4380" /><Relationship Type="http://schemas.openxmlformats.org/officeDocument/2006/relationships/notesSlide" Target="/ppt/notesSlides/notesSlide9.xml" Id="Ra7681ce2c30e49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8106b4a094617" /><Relationship Type="http://schemas.openxmlformats.org/officeDocument/2006/relationships/notesSlide" Target="/ppt/notesSlides/notesSlide10.xml" Id="R622ad7ecfa9643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dff34bc034e3c" /><Relationship Type="http://schemas.openxmlformats.org/officeDocument/2006/relationships/notesSlide" Target="/ppt/notesSlides/notesSlide11.xml" Id="Re0f77d2510104b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96fa195be4315" /><Relationship Type="http://schemas.openxmlformats.org/officeDocument/2006/relationships/notesSlide" Target="/ppt/notesSlides/notesSlide12.xml" Id="Rfa0a199e449c4c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cd75b68f145a9" /><Relationship Type="http://schemas.openxmlformats.org/officeDocument/2006/relationships/notesSlide" Target="/ppt/notesSlides/notesSlide13.xml" Id="Rc8b48d346ce34e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D6616-0B5F-495E-A545-1BEA1967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CFFD8-A52C-4E6E-8AE5-009223C0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FDEE6-DE74-429B-A72A-1E24585A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7221E"/>
                </a:solidFill>
              </a:defRPr>
            </a:pPr>
            <a:r>
              <a:rPr sz="1275" b="1" i="0">
                <a:solidFill>
                  <a:srgbClr val="17221E"/>
                </a:solidFill>
              </a:rPr>
              <a:t>B2W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A4ADD-EF4D-4B89-AB34-A7856412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24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PRIVATE / EXECUTIVE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0EEB7-3641-4CB9-B9F1-F7487A78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286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400" b="1" i="0">
                <a:solidFill>
                  <a:srgbClr val="17221E"/>
                </a:solidFill>
              </a:defRPr>
            </a:pPr>
            <a:r>
              <a:rPr sz="5400" b="1" i="0">
                <a:solidFill>
                  <a:srgbClr val="17221E"/>
                </a:solidFill>
              </a:rPr>
              <a:t>Executive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400" b="1" i="0">
                <a:solidFill>
                  <a:srgbClr val="17221E"/>
                </a:solidFill>
              </a:defRPr>
            </a:pPr>
            <a:r>
              <a:rPr sz="5400" b="1" i="0">
                <a:solidFill>
                  <a:srgbClr val="17221E"/>
                </a:solidFill>
              </a:rPr>
              <a:t>Strategy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C7287-3FF4-4FA4-BFB5-741B168C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73817B"/>
                </a:solidFill>
              </a:defRPr>
            </a:pPr>
            <a:r>
              <a:rPr sz="1800" b="0" i="0">
                <a:solidFill>
                  <a:srgbClr val="73817B"/>
                </a:solidFill>
              </a:rPr>
              <a:t>A staged path from founder-led validation to a scalable AI operating layer for project-based businesses.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9E1B0-9C2B-4FF8-B6E5-E02E3886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3429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23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B3906-F32D-4825-8870-8421194E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335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D8B56A"/>
                </a:solidFill>
              </a:defRPr>
            </a:pPr>
            <a:r>
              <a:rPr sz="900" b="1" i="0">
                <a:solidFill>
                  <a:srgbClr val="D8B56A"/>
                </a:solidFill>
              </a:rPr>
              <a:t>STRATEGIC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D8B56A"/>
                </a:solidFill>
              </a:defRPr>
            </a:pPr>
            <a:r>
              <a:rPr sz="900" b="1" i="0">
                <a:solidFill>
                  <a:srgbClr val="D8B56A"/>
                </a:solidFill>
              </a:rPr>
              <a:t>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8C5C1-DE87-4801-9376-9C248552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B1A11-36CB-4153-BB9D-3D20D9E5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171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Connect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communication,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context,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documents,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and approved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09F43-A4C0-4A61-B076-807147D0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B68124"/>
                </a:solidFill>
              </a:defRPr>
            </a:pPr>
            <a:r>
              <a:rPr sz="1050" b="1" i="0">
                <a:solidFill>
                  <a:srgbClr val="B68124"/>
                </a:solidFill>
              </a:rPr>
              <a:t>JULY 28,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2DF0A-C51B-40C0-94B9-EE17901E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9626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3817B"/>
                </a:solidFill>
              </a:defRPr>
            </a:pPr>
            <a:r>
              <a:rPr sz="975" b="1" i="0">
                <a:solidFill>
                  <a:srgbClr val="73817B"/>
                </a:solidFill>
              </a:rPr>
              <a:t>B2W-AI.COM</a:t>
            </a:r>
          </a:p>
        </p:txBody>
      </p:sp>
    </p:spTree>
    <p:extLst>
      <p:ext uri="{BB962C8B-B14F-4D97-AF65-F5344CB8AC3E}">
        <p14:creationId xmlns:p14="http://schemas.microsoft.com/office/powerpoint/2010/main" val="17682153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178C4-4A6B-408E-9EE5-67DF47E2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CC6B0-165D-46D1-9C4A-9EEB655F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41FCB-C83A-485F-8EB8-4A278BBB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COMPANY IN ONE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213F9-50E1-4F0B-BFFA-FE6D0049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221E"/>
                </a:solidFill>
              </a:defRPr>
            </a:pPr>
            <a:r>
              <a:rPr sz="2850" b="1" i="0">
                <a:solidFill>
                  <a:srgbClr val="17221E"/>
                </a:solidFill>
              </a:rPr>
              <a:t>Build the operating layer contractors already need.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DC48A-2DA3-481F-91D6-75E36A0B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Begin with useful communication workflows, prove recurring value, then expand into documents and project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BDCBC-CF75-4CB1-BD3A-40E9FABF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4A661-6820-4680-947C-EE6A500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B2W  /  EXECUTIVE STRATEGY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2059A-8E64-48D2-BFC8-10A96FFE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532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JULY 28,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491EF-E99F-4F50-9293-0024744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B9B86-1591-4CE7-9835-A387CE83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3238500" cy="36671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DD8D6-ADBE-400F-B2F5-8CD89127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4C9BA-F7A7-4E6A-A0D6-CCCA191D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B68124"/>
                </a:solidFill>
              </a:defRPr>
            </a:pPr>
            <a:r>
              <a:rPr sz="825" b="1" i="0">
                <a:solidFill>
                  <a:srgbClr val="B68124"/>
                </a:solidFill>
              </a:rPr>
              <a:t>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0EAC7-0D97-4360-B9C9-FBA3BA8C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21E"/>
                </a:solidFill>
              </a:defRPr>
            </a:pPr>
            <a:r>
              <a:rPr sz="2100" b="1" i="0">
                <a:solidFill>
                  <a:srgbClr val="17221E"/>
                </a:solidFill>
              </a:rPr>
              <a:t>Prove demand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5CDEC-F658-42A5-A02C-DCC7B30E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781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Free estimate, SOP, and proposal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Free product demos.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Growth consultations for contracting businesses.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5796E-2CDC-4C12-ADE9-51378768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62200"/>
            <a:ext cx="3238500" cy="36671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8E1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FBDFD-A4AF-4D4B-AA39-166205A0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9080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F7568-7788-436B-B3DE-BE6C2F1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B68124"/>
                </a:solidFill>
              </a:defRPr>
            </a:pPr>
            <a:r>
              <a:rPr sz="825" b="1" i="0">
                <a:solidFill>
                  <a:srgbClr val="B68124"/>
                </a:solidFill>
              </a:rPr>
              <a:t>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4830F-3108-4E58-83A1-2224BD3A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21E"/>
                </a:solidFill>
              </a:defRPr>
            </a:pPr>
            <a:r>
              <a:rPr sz="2100" b="1" i="0">
                <a:solidFill>
                  <a:srgbClr val="17221E"/>
                </a:solidFill>
              </a:rPr>
              <a:t>Prove 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0F43A-6096-4E49-AD7D-E0AEC7FD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781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Convert demand into paying customers.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Track plan choice, retention, and acquisition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Standardize onboarding.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13BC84-AD49-4D2D-A602-4FC73298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62200"/>
            <a:ext cx="3238500" cy="36671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23C33"/>
          </a:solidFill>
          <a:ln xmlns:a="http://schemas.openxmlformats.org/drawingml/2006/main" w="9525">
            <a:solidFill>
              <a:srgbClr val="223C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131B8-A09C-4410-98DC-CDAED48A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E6170-8940-43F1-AFBB-3CFBB859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33301-C0FF-4A70-85CC-1ECBE082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Scale the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6EA53-FB96-4F92-88C4-7D42DA07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2781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DDE8E1"/>
                </a:solidFill>
              </a:defRPr>
            </a:pPr>
            <a:r>
              <a:rPr sz="1350" b="0" i="0">
                <a:solidFill>
                  <a:srgbClr val="DDE8E1"/>
                </a:solidFill>
              </a:rPr>
              <a:t>Configurable integrations, templates, approvals, and project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DDE8E1"/>
                </a:solidFill>
              </a:defRPr>
            </a:pPr>
            <a:r>
              <a:rPr sz="1350" b="0" i="0">
                <a:solidFill>
                  <a:srgbClr val="DDE8E1"/>
                </a:solidFill>
              </a:rPr>
              <a:t>Recurring revenue grows faster than delivery cost.</a:t>
            </a:r>
          </a:p>
        </p:txBody>
      </p:sp>
    </p:spTree>
    <p:extLst>
      <p:ext uri="{BB962C8B-B14F-4D97-AF65-F5344CB8AC3E}">
        <p14:creationId xmlns:p14="http://schemas.microsoft.com/office/powerpoint/2010/main" val="21298377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82CE6C-FC60-4578-A140-B6D360E3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2043C-165C-4CF3-95B8-D7E457D9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B8FA0-34F1-4D81-A7E2-0C72B0B9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CUSTOMER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0FC93-F00C-4165-AD3A-28053E31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7221E"/>
                </a:solidFill>
              </a:defRPr>
            </a:pPr>
            <a:r>
              <a:rPr sz="3300" b="1" i="0">
                <a:solidFill>
                  <a:srgbClr val="17221E"/>
                </a:solidFill>
              </a:rPr>
              <a:t>The owner is the integration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3C386-66B0-4868-9495-1A44591D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Business-critical context is fragmented across tools, so decisions and follow-up depend on manual coordination.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A14DC-C16D-4ACA-8CDB-A360B94A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B0280-9843-4B42-B139-96A61E71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B2W  /  EXECUTIVE STRATEGY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0B201-47F5-4688-88C9-65255BB7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532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JULY 28,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2747A-AAB2-4C4F-B7E8-4712E8FE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96C8B-8496-4E63-9943-5CE6EAAA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905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3B0EF-CD86-4506-AFBE-8EAB48A1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7221E"/>
                </a:solidFill>
              </a:defRPr>
            </a:pPr>
            <a:r>
              <a:rPr sz="1350" b="1" i="0">
                <a:solidFill>
                  <a:srgbClr val="17221E"/>
                </a:solidFill>
              </a:rPr>
              <a:t>WhatsApp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6BEAD-080A-4895-8131-CDB05183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905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079AD-58B8-41B2-B15E-7C4D8F5E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7221E"/>
                </a:solidFill>
              </a:defRPr>
            </a:pPr>
            <a:r>
              <a:rPr sz="1350" b="1" i="0">
                <a:solidFill>
                  <a:srgbClr val="17221E"/>
                </a:solidFill>
              </a:rPr>
              <a:t>Google Drive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9B5CE-B3DF-44CB-8A68-333AC6CA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905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C153E-A29E-46D1-9F9E-CC1BAE23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7221E"/>
                </a:solidFill>
              </a:defRPr>
            </a:pPr>
            <a:r>
              <a:rPr sz="1350" b="1" i="0">
                <a:solidFill>
                  <a:srgbClr val="17221E"/>
                </a:solidFill>
              </a:rPr>
              <a:t>PDFs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C6541-5EEC-4FF9-B38C-EF9DBC87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47950"/>
            <a:ext cx="1905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E6DC3-C98F-4CF5-91F9-A62AD3D0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479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7221E"/>
                </a:solidFill>
              </a:defRPr>
            </a:pPr>
            <a:r>
              <a:rPr sz="1350" b="1" i="0">
                <a:solidFill>
                  <a:srgbClr val="17221E"/>
                </a:solidFill>
              </a:rPr>
              <a:t>Spreadsheets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459C7-3438-42E7-9E32-62B45117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1905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A7A1E-AB6D-4D22-8C99-37A7955A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957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7221E"/>
                </a:solidFill>
              </a:defRPr>
            </a:pPr>
            <a:r>
              <a:rPr sz="1350" b="1" i="0">
                <a:solidFill>
                  <a:srgbClr val="17221E"/>
                </a:solidFill>
              </a:rPr>
              <a:t>CRM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3C28D-4B90-4FB4-8433-FD5A84D5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43450"/>
            <a:ext cx="1905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452B3-ABD5-4825-B541-90055909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434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7221E"/>
                </a:solidFill>
              </a:defRPr>
            </a:pPr>
            <a:r>
              <a:rPr sz="1350" b="1" i="0">
                <a:solidFill>
                  <a:srgbClr val="17221E"/>
                </a:solidFill>
              </a:rPr>
              <a:t>Accounting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73E5C-97DA-4ECB-8205-DC7BE441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38450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F3BBE-AD5D-43E1-8A5B-34FC61FA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BE4AB-6919-43FB-929E-37957F33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33950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3BA7E-6ED5-44C6-A439-F9CFC9D6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38450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9A1FD0-993C-443E-B0F4-ABE85ED4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86200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306B8-7F7F-4DD1-AAE6-29883A86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33950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916B9-2787-4C95-9042-B807988D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33650"/>
            <a:ext cx="457200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223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CCA08E-7339-4DAD-899B-1C877547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396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D8B56A"/>
                </a:solidFill>
              </a:defRPr>
            </a:pPr>
            <a:r>
              <a:rPr sz="900" b="1" i="0">
                <a:solidFill>
                  <a:srgbClr val="D8B56A"/>
                </a:solidFill>
              </a:rPr>
              <a:t>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C20DEC-20B3-4D72-A05B-5D57AF3B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3962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Searches.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Interprets.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Re-enters.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Chases.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Approves.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F6B213-470F-443C-8B2D-F3E3FC19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924550"/>
            <a:ext cx="617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A65D3E"/>
                </a:solidFill>
              </a:defRPr>
            </a:pPr>
            <a:r>
              <a:rPr sz="1200" b="1" i="0">
                <a:solidFill>
                  <a:srgbClr val="A65D3E"/>
                </a:solidFill>
              </a:rPr>
              <a:t>Slow decisions  •  Lost context  •  Inconsistent execution</a:t>
            </a:r>
          </a:p>
        </p:txBody>
      </p:sp>
    </p:spTree>
    <p:extLst>
      <p:ext uri="{BB962C8B-B14F-4D97-AF65-F5344CB8AC3E}">
        <p14:creationId xmlns:p14="http://schemas.microsoft.com/office/powerpoint/2010/main" val="14973103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EBC561-6311-4702-AED3-FE48ECA3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ACBF1-6D8D-4A6C-98E0-9C3A78ED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1493C-628B-42EE-AD8E-B7BDC459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PRODUCT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4461C-4047-43D4-B8EC-C37039FE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7221E"/>
                </a:solidFill>
              </a:defRPr>
            </a:pPr>
            <a:r>
              <a:rPr sz="3300" b="1" i="0">
                <a:solidFill>
                  <a:srgbClr val="17221E"/>
                </a:solidFill>
              </a:rPr>
              <a:t>Six layers move a request into secure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8CE0C-BCC5-4042-A495-ED967F40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WhatsApp Assistant → Reasoning → Document Maker → SME Verification → Project Portal → SOC 2 and security development.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53789-54C0-4930-8C2E-803A61C6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919D5-58D1-4D30-A66E-0E4B8E04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B2W  /  EXECUTIVE STRATEGY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68867-A67D-45CC-8299-B3B45082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532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JULY 28,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BCD0F-ED8A-4A95-9FCF-3C211E4C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79ABF-10F5-45D5-B566-EA41199B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18135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0F143-479C-40AB-97A9-B37891BC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8135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C0A28-2630-4AE8-B5E9-6494ECD6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57650"/>
            <a:ext cx="2476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3BBD2-AAB8-4069-AE8C-0BFC07A4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05400"/>
            <a:ext cx="36195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D59FA-56AB-479C-94B8-5908B049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105400"/>
            <a:ext cx="36195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8D42C-B713-4B5F-A30D-08EDEF81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28A38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41023-B273-45E4-9418-66B4447E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68124"/>
                </a:solidFill>
              </a:defRPr>
            </a:pPr>
            <a:r>
              <a:rPr sz="825" b="1" i="0">
                <a:solidFill>
                  <a:srgbClr val="B68124"/>
                </a:solidFill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33727-CAB7-446A-A2C7-F9124592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52725"/>
            <a:ext cx="2381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INTERFACE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5E8E7-C0D8-4298-979E-D0248E97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 i="0">
                <a:solidFill>
                  <a:srgbClr val="17221E"/>
                </a:solidFill>
              </a:defRPr>
            </a:pPr>
            <a:r>
              <a:rPr sz="1800" b="1" i="0">
                <a:solidFill>
                  <a:srgbClr val="17221E"/>
                </a:solidFill>
              </a:rPr>
              <a:t>WhatsApp Assistant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8739A-6173-448B-BE6F-29F3A750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73817B"/>
                </a:solidFill>
              </a:defRPr>
            </a:pPr>
            <a:r>
              <a:rPr sz="1200" b="0" i="0">
                <a:solidFill>
                  <a:srgbClr val="73817B"/>
                </a:solidFill>
              </a:rPr>
              <a:t>The contractor asks, reviews, and follows through.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00FD1-6CDE-4771-9ACA-0E67B059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7175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9A51A-E395-423B-BC3B-8B9DC6FD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432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68124"/>
                </a:solidFill>
              </a:defRPr>
            </a:pPr>
            <a:r>
              <a:rPr sz="825" b="1" i="0">
                <a:solidFill>
                  <a:srgbClr val="B68124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A5123-4A04-454D-B59D-862C76A5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52725"/>
            <a:ext cx="2381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REASONING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B7C05-7818-40AC-B9B0-683676B7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480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 i="0">
                <a:solidFill>
                  <a:srgbClr val="17221E"/>
                </a:solidFill>
              </a:defRPr>
            </a:pPr>
            <a:r>
              <a:rPr sz="1800" b="1" i="0">
                <a:solidFill>
                  <a:srgbClr val="17221E"/>
                </a:solidFill>
              </a:rPr>
              <a:t>Reasoning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1757E-C432-4AD6-B204-E1D02835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623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73817B"/>
                </a:solidFill>
              </a:defRPr>
            </a:pPr>
            <a:r>
              <a:rPr sz="1200" b="0" i="0">
                <a:solidFill>
                  <a:srgbClr val="73817B"/>
                </a:solidFill>
              </a:rPr>
              <a:t>Interprets intent, retrieves context, and selects the workflow.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E583CD-1D88-43D7-82CC-AACE024D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3D7E8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08F0C-EB65-4179-AD98-B5DA5FE6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68124"/>
                </a:solidFill>
              </a:defRPr>
            </a:pPr>
            <a:r>
              <a:rPr sz="825" b="1" i="0">
                <a:solidFill>
                  <a:srgbClr val="B68124"/>
                </a:solidFill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1BD6A0-118E-4C7E-BC2A-084F6D7B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52725"/>
            <a:ext cx="2381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CREATION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52D50-656E-4162-88B3-8849B38F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 i="0">
                <a:solidFill>
                  <a:srgbClr val="17221E"/>
                </a:solidFill>
              </a:defRPr>
            </a:pPr>
            <a:r>
              <a:rPr sz="1800" b="1" i="0">
                <a:solidFill>
                  <a:srgbClr val="17221E"/>
                </a:solidFill>
              </a:rPr>
              <a:t>Document Maker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4301C-4FFE-4888-A852-86D7F7CA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73817B"/>
                </a:solidFill>
              </a:defRPr>
            </a:pPr>
            <a:r>
              <a:rPr sz="1200" b="0" i="0">
                <a:solidFill>
                  <a:srgbClr val="73817B"/>
                </a:solidFill>
              </a:rPr>
              <a:t>Creates estimates, SOPs, proposals, and reports.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939162-1269-492C-8B7E-C4D40DFD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958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787354-E603-4375-BA9B-F39E1A85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672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68124"/>
                </a:solidFill>
              </a:defRPr>
            </a:pPr>
            <a:r>
              <a:rPr sz="825" b="1" i="0">
                <a:solidFill>
                  <a:srgbClr val="B68124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261FF1-F85C-4FC0-855E-E09094AB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76775"/>
            <a:ext cx="2381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VERIFICATION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1F94C7-D5CC-45C8-BBDE-E393C550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720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 i="0">
                <a:solidFill>
                  <a:srgbClr val="17221E"/>
                </a:solidFill>
              </a:defRPr>
            </a:pPr>
            <a:r>
              <a:rPr sz="1800" b="1" i="0">
                <a:solidFill>
                  <a:srgbClr val="17221E"/>
                </a:solidFill>
              </a:rPr>
              <a:t>SME Verification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1ACA3A-4DE5-4FF3-A329-DB862F92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864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73817B"/>
                </a:solidFill>
              </a:defRPr>
            </a:pPr>
            <a:r>
              <a:rPr sz="1200" b="0" i="0">
                <a:solidFill>
                  <a:srgbClr val="73817B"/>
                </a:solidFill>
              </a:rPr>
              <a:t>An expert verifies accuracy, trade logic, and business fit.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EA9B54-D877-4027-AE44-32B582A7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4958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DE8E1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2FD3C6-96B3-4EB3-9599-D9A59701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672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68124"/>
                </a:solidFill>
              </a:defRPr>
            </a:pPr>
            <a:r>
              <a:rPr sz="825" b="1" i="0">
                <a:solidFill>
                  <a:srgbClr val="B68124"/>
                </a:solidFill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76F1A6-48CD-4330-AF73-78BBCEA5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676775"/>
            <a:ext cx="2381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OPERATIONS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E12F2E-BBC6-4E9B-9B1F-07B01549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720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 i="0">
                <a:solidFill>
                  <a:srgbClr val="17221E"/>
                </a:solidFill>
              </a:defRPr>
            </a:pPr>
            <a:r>
              <a:rPr sz="1800" b="1" i="0">
                <a:solidFill>
                  <a:srgbClr val="17221E"/>
                </a:solidFill>
              </a:rPr>
              <a:t>Project Portal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FD8A98-FC95-4DE7-ADE2-408E87A5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4864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73817B"/>
                </a:solidFill>
              </a:defRPr>
            </a:pPr>
            <a:r>
              <a:rPr sz="1200" b="0" i="0">
                <a:solidFill>
                  <a:srgbClr val="73817B"/>
                </a:solidFill>
              </a:rPr>
              <a:t>Records the approved result with its project and owners.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CEA9AE-2478-45F5-AA47-F1723AF2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223C33"/>
          </a:solidFill>
          <a:ln xmlns:a="http://schemas.openxmlformats.org/drawingml/2006/main" w="9525">
            <a:solidFill>
              <a:srgbClr val="223C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3A4C01-4CF5-4E54-A0D1-C274D17C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D8B56A"/>
                </a:solidFill>
              </a:defRPr>
            </a:pPr>
            <a:r>
              <a:rPr sz="825" b="1" i="0">
                <a:solidFill>
                  <a:srgbClr val="D8B56A"/>
                </a:solidFill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4BF5B2-3766-4A99-9F31-D5D39F94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76775"/>
            <a:ext cx="2381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DDE8E1"/>
                </a:solidFill>
              </a:defRPr>
            </a:pPr>
            <a:r>
              <a:rPr sz="675" b="1" i="0">
                <a:solidFill>
                  <a:srgbClr val="DDE8E1"/>
                </a:solidFill>
              </a:rPr>
              <a:t>SECURITY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A254EB-97A4-4AEF-8480-725C1D6F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SOC 2 + Security Development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AA101D-C8F1-4DDE-8BF8-DBD21474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DDE8E1"/>
                </a:solidFill>
              </a:defRPr>
            </a:pPr>
            <a:r>
              <a:rPr sz="1200" b="0" i="0">
                <a:solidFill>
                  <a:srgbClr val="DDE8E1"/>
                </a:solidFill>
              </a:rPr>
              <a:t>Builds controls, access, logging, protection, and audit readiness.</a:t>
            </a:r>
          </a:p>
        </p:txBody>
      </p:sp>
    </p:spTree>
    <p:extLst>
      <p:ext uri="{BB962C8B-B14F-4D97-AF65-F5344CB8AC3E}">
        <p14:creationId xmlns:p14="http://schemas.microsoft.com/office/powerpoint/2010/main" val="4947349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1D1B57-5378-455A-A0C5-CB7D9D6D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21A36-6E12-4EC1-A8F0-2A3E2EBB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E5941-548A-4485-992F-8EE30095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CURRENT REALITY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6AA75-6351-486B-8587-FD01D7E1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7221E"/>
                </a:solidFill>
              </a:defRPr>
            </a:pPr>
            <a:r>
              <a:rPr sz="3300" b="1" i="0">
                <a:solidFill>
                  <a:srgbClr val="17221E"/>
                </a:solidFill>
              </a:rPr>
              <a:t>Three products create one expandable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1633B-548D-4341-B3E8-CD9DE7AE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Each product has a clear job today and a direct commercial 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D00FA-37E9-4F10-A815-A4EDEE5A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BCE53-4920-4122-9B8D-63844AFE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B2W  /  EXECUTIVE STRATEGY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1281F-CC85-4492-A706-E63F0D0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532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JULY 28,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DCC68-F321-4410-92DC-81A43E7A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66BB6-F0BD-46E9-AECE-C999E9F0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11633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23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1D257-2238-4632-8FBD-05C18BFC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DDE8E1"/>
                </a:solidFill>
              </a:defRPr>
            </a:pPr>
            <a:r>
              <a:rPr sz="825" b="1" i="0">
                <a:solidFill>
                  <a:srgbClr val="DDE8E1"/>
                </a:solidFill>
              </a:rPr>
              <a:t>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648B5-F4E2-436A-9263-2B66D3E0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95550"/>
            <a:ext cx="4105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DDE8E1"/>
                </a:solidFill>
              </a:defRPr>
            </a:pPr>
            <a:r>
              <a:rPr sz="825" b="1" i="0">
                <a:solidFill>
                  <a:srgbClr val="DDE8E1"/>
                </a:solidFill>
              </a:rPr>
              <a:t>WHAT EXISTS TODAY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CD630-2E8B-49D8-8DB7-881C51BA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95550"/>
            <a:ext cx="3629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DDE8E1"/>
                </a:solidFill>
              </a:defRPr>
            </a:pPr>
            <a:r>
              <a:rPr sz="825" b="1" i="0">
                <a:solidFill>
                  <a:srgbClr val="DDE8E1"/>
                </a:solidFill>
              </a:rPr>
              <a:t>COMMERCIAL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C2CFF-035D-440B-BE42-78FC69CE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11163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1CDA7-435C-45D1-8365-D908F7D2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7221E"/>
                </a:solidFill>
              </a:defRPr>
            </a:pPr>
            <a:r>
              <a:rPr sz="1425" b="1" i="0">
                <a:solidFill>
                  <a:srgbClr val="17221E"/>
                </a:solidFill>
              </a:rPr>
              <a:t>WhatsApp Assistant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6BCDB-FEEE-4961-B858-D283F28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38475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73817B"/>
                </a:solidFill>
              </a:defRPr>
            </a:pPr>
            <a:r>
              <a:rPr sz="1200" b="0" i="0">
                <a:solidFill>
                  <a:srgbClr val="73817B"/>
                </a:solidFill>
              </a:rPr>
              <a:t>Reads business communication, summarizes conversations, and identifies actions and follow-ups.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B91F3-D075-43DD-A8BE-09E424D9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38475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B68124"/>
                </a:solidFill>
              </a:defRPr>
            </a:pPr>
            <a:r>
              <a:rPr sz="1200" b="0" i="0">
                <a:solidFill>
                  <a:srgbClr val="B68124"/>
                </a:solidFill>
              </a:rPr>
              <a:t>Core is the minimum B2W product: $2,000 setup + $99/month.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B5978-C94C-412B-9D5D-6D9CC5E3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11163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7A6C1-8B9B-4502-AB86-86774481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7221E"/>
                </a:solidFill>
              </a:defRPr>
            </a:pPr>
            <a:r>
              <a:rPr sz="1425" b="1" i="0">
                <a:solidFill>
                  <a:srgbClr val="17221E"/>
                </a:solidFill>
              </a:rPr>
              <a:t>Document Maker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D8B91-DE22-4DC9-BC6B-7C5FABC3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05275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73817B"/>
                </a:solidFill>
              </a:defRPr>
            </a:pPr>
            <a:r>
              <a:rPr sz="1200" b="0" i="0">
                <a:solidFill>
                  <a:srgbClr val="73817B"/>
                </a:solidFill>
              </a:rPr>
              <a:t>Creates SOPs, estimates, reports, proposals, and repeatable document workflows.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F3204-FD2D-45E1-8D3A-AFACF5AC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05275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B68124"/>
                </a:solidFill>
              </a:defRPr>
            </a:pPr>
            <a:r>
              <a:rPr sz="1200" b="0" i="0">
                <a:solidFill>
                  <a:srgbClr val="B68124"/>
                </a:solidFill>
              </a:rPr>
              <a:t>Premium adds document capability through a higher monthly plan—without another setup fee.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206AC-BD6C-4823-A999-AB9C601A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1163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E415B-12C8-4BBB-82A3-D872D577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7221E"/>
                </a:solidFill>
              </a:defRPr>
            </a:pPr>
            <a:r>
              <a:rPr sz="1425" b="1" i="0">
                <a:solidFill>
                  <a:srgbClr val="17221E"/>
                </a:solidFill>
              </a:rPr>
              <a:t>Project Portal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7A74B-9420-46FF-B85C-1CB414F7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72075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73817B"/>
                </a:solidFill>
              </a:defRPr>
            </a:pPr>
            <a:r>
              <a:rPr sz="1200" b="0" i="0">
                <a:solidFill>
                  <a:srgbClr val="73817B"/>
                </a:solidFill>
              </a:rPr>
              <a:t>Organizes projects, contracts, dates, owners, status, actions, and linked documents.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E485A-7B79-4E40-81B3-6D3684F5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72075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B68124"/>
                </a:solidFill>
              </a:defRPr>
            </a:pPr>
            <a:r>
              <a:rPr sz="1200" b="0" i="0">
                <a:solidFill>
                  <a:srgbClr val="B68124"/>
                </a:solidFill>
              </a:rPr>
              <a:t>Maximum adds the Project Portal for customers that need a shared project-control layer.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8B708D-B929-45CE-92F8-861CFD16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1">
                <a:solidFill>
                  <a:srgbClr val="73817B"/>
                </a:solidFill>
              </a:defRPr>
            </a:pPr>
            <a:r>
              <a:rPr sz="975" b="0" i="1">
                <a:solidFill>
                  <a:srgbClr val="73817B"/>
                </a:solidFill>
              </a:rPr>
              <a:t>Product names remain descriptive until market proof supports stronger branding.</a:t>
            </a:r>
          </a:p>
        </p:txBody>
      </p:sp>
    </p:spTree>
    <p:extLst>
      <p:ext uri="{BB962C8B-B14F-4D97-AF65-F5344CB8AC3E}">
        <p14:creationId xmlns:p14="http://schemas.microsoft.com/office/powerpoint/2010/main" val="8822210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9AEA4-4E80-4826-87D8-E58B974B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CFAF4-5D51-49F9-883A-B0EF0119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20515-7A9D-4144-BB7A-0B4A5887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REVENUE MODEL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F310F-94C1-4824-9A84-36D392C9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7221E"/>
                </a:solidFill>
              </a:defRPr>
            </a:pPr>
            <a:r>
              <a:rPr sz="3300" b="1" i="0">
                <a:solidFill>
                  <a:srgbClr val="17221E"/>
                </a:solidFill>
              </a:rPr>
              <a:t>Start simple. Expand with demonstrated need.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87527-D3BE-44E5-8FD0-872BE2E5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The setup fee is paid once. Higher plans add capability through monthly pricing.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AF6C2-3EC2-43A4-B520-B780D9E7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20865-700F-4EB6-B9EF-63EDEEA9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B2W  /  EXECUTIVE STRATEGY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133F1-69B3-43A3-A4FA-8BF13444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532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JULY 28,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64B46-7F56-4A01-BA2A-29A0D21E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64A81-7150-4D29-9113-5EAC31DE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32385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28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4C15A-C278-49B3-B46C-6D1F687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F3299-5F16-4714-93F5-36747AD5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7221E"/>
                </a:solidFill>
              </a:defRPr>
            </a:pPr>
            <a:r>
              <a:rPr sz="2025" b="1" i="0">
                <a:solidFill>
                  <a:srgbClr val="17221E"/>
                </a:solidFill>
              </a:rPr>
              <a:t>WhatsApp Assistant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DA95E-8BDE-4DEA-BA6D-18CE3F51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1" i="0">
                <a:solidFill>
                  <a:srgbClr val="17221E"/>
                </a:solidFill>
              </a:defRPr>
            </a:pPr>
            <a:r>
              <a:rPr sz="1575" b="1" i="0">
                <a:solidFill>
                  <a:srgbClr val="17221E"/>
                </a:solidFill>
              </a:rPr>
              <a:t>$2,000 setup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75" b="1" i="0">
                <a:solidFill>
                  <a:srgbClr val="17221E"/>
                </a:solidFill>
              </a:defRPr>
            </a:pPr>
            <a:r>
              <a:rPr sz="1575" b="1" i="0">
                <a:solidFill>
                  <a:srgbClr val="17221E"/>
                </a:solidFill>
              </a:rPr>
              <a:t>+ $99/month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B1C86-4A74-4F36-B34C-723090F5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7221E"/>
                </a:solidFill>
              </a:defRPr>
            </a:pPr>
            <a:r>
              <a:rPr sz="1125" b="0" i="0">
                <a:solidFill>
                  <a:srgbClr val="17221E"/>
                </a:solidFill>
              </a:rPr>
              <a:t>Required starting point.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7221E"/>
                </a:solidFill>
              </a:defRPr>
            </a:pPr>
            <a:r>
              <a:rPr sz="1125" b="0" i="0">
                <a:solidFill>
                  <a:srgbClr val="17221E"/>
                </a:solidFill>
              </a:rPr>
              <a:t>Communication summaries, actions, and follow-up clarity.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E2041-B766-43A2-9E10-A3731120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0300"/>
            <a:ext cx="32385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E84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7A96C-2C47-4560-91B0-E4708A8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3842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PREMIUM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9BDA7-C6AC-4A19-AE9E-6C57E4D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+ Document Maker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7B85D-3E96-4BF8-B7A1-36EEBA6D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Higher monthly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2933D-3319-421E-9CA4-A73ECAA0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0075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No additional setup fee.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Build SOPs, estimates, proposals, and repeatable documents.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D8DF1-A5E5-4B01-94A6-CA6BB37B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2385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223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ED466-F55C-4193-AE2F-5755B526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3842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D8B56A"/>
                </a:solidFill>
              </a:defRPr>
            </a:pPr>
            <a:r>
              <a:rPr sz="825" b="1" i="0">
                <a:solidFill>
                  <a:srgbClr val="D8B56A"/>
                </a:solidFill>
              </a:rPr>
              <a:t>MAXIMUM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7ABDA-F77A-4D00-BE62-C01C0A0F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+ Project Portal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06A93-8341-49EE-ACC3-4BC24F90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Highest monthly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04BC6D-F731-45BF-8AD0-D4D72D92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10075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No additional setup fee.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Add shared project control, visibility, linked records, and risk alerts.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FCF363-36A8-4AFE-9F3B-8012BCA2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11163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B5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C4F26-5718-441E-AC2A-35DDDE29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2381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B68124"/>
                </a:solidFill>
              </a:defRPr>
            </a:pPr>
            <a:r>
              <a:rPr sz="750" b="1" i="0">
                <a:solidFill>
                  <a:srgbClr val="B68124"/>
                </a:solidFill>
              </a:rPr>
              <a:t>OPTIONAL DOCUMENT LEARNING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E6E4A-502D-49C5-A09E-16071E92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6007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73817B"/>
                </a:solidFill>
              </a:defRPr>
            </a:pPr>
            <a:r>
              <a:rPr sz="1200" b="0" i="0">
                <a:solidFill>
                  <a:srgbClr val="73817B"/>
                </a:solidFill>
              </a:rPr>
              <a:t>One-time fee to learn up to 50 existing SOPs, estimating tools, templates, or process documents. Price to validate.</a:t>
            </a:r>
          </a:p>
        </p:txBody>
      </p:sp>
    </p:spTree>
    <p:extLst>
      <p:ext uri="{BB962C8B-B14F-4D97-AF65-F5344CB8AC3E}">
        <p14:creationId xmlns:p14="http://schemas.microsoft.com/office/powerpoint/2010/main" val="10492224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078BDC-2BAF-406F-AA39-E603D170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FA040-560A-4E87-89C6-F7CC0ED9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1E314-5F87-4EAE-AEA2-73EF2376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THREE-STAGE 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C1FA3-0C2D-45F5-BB99-2FBB62BC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7221E"/>
                </a:solidFill>
              </a:defRPr>
            </a:pPr>
            <a:r>
              <a:rPr sz="3300" b="1" i="0">
                <a:solidFill>
                  <a:srgbClr val="17221E"/>
                </a:solidFill>
              </a:rPr>
              <a:t>Product maturity changes the economics.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251C3-4BE7-4CCF-A8B4-DF8F9DB9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Service effort declines as demand, payment, recurring use, and repeatability are proven.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07B49-85C6-4A60-AD23-6A26446A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9095E-E07D-4BBE-9FAB-CDA48072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B2W  /  EXECUTIVE STRATEGY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59DBA-FAD8-445C-9925-65E5977D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532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JULY 28,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189ED-7487-4A56-A3F8-93296444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E9098-F9EC-4F8E-A3FF-188FD2CB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3238500" cy="36766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4A857-EF6C-486D-AC4E-BD793ADC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8C987-7CA2-47AF-B278-830E1512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33650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A851A-341D-4661-9419-BA5026D1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908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FOUNDER-LED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99378-10B0-48AF-83D9-A183FB05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21E"/>
                </a:solidFill>
              </a:defRPr>
            </a:pPr>
            <a:r>
              <a:rPr sz="2100" b="1" i="0">
                <a:solidFill>
                  <a:srgbClr val="17221E"/>
                </a:solidFill>
              </a:rPr>
              <a:t>Prove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94B2D-D2C4-4D23-80C9-3D3422D4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7221E"/>
                </a:solidFill>
              </a:defRPr>
            </a:pPr>
            <a:r>
              <a:rPr sz="1350" b="1" i="0">
                <a:solidFill>
                  <a:srgbClr val="17221E"/>
                </a:solidFill>
              </a:rPr>
              <a:t>Free tools, demos + consultations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A460C-450A-4A42-8B23-9161C821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F230C-277C-4EBC-864E-28C54F6E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73817B"/>
                </a:solidFill>
              </a:defRPr>
            </a:pPr>
            <a:r>
              <a:rPr sz="1200" b="0" i="0">
                <a:solidFill>
                  <a:srgbClr val="73817B"/>
                </a:solidFill>
              </a:rPr>
              <a:t>Attract contractors with free estimate, SOP, and proposal tools. Convert interest through product demos and growth consultations.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9D94D-9AAA-4F90-AA50-5EB0D7CB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62200"/>
            <a:ext cx="3238500" cy="36766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8E1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3C06E-8E8B-4BC2-BDD3-01CC00FB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9BB84-EEC4-4631-AB96-87C60BB0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33650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C6282-3BF7-447B-B9C8-0C612D11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908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STANDARDIZED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EE230-11EC-45C2-83CF-5A173CCE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242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21E"/>
                </a:solidFill>
              </a:defRPr>
            </a:pPr>
            <a:r>
              <a:rPr sz="2100" b="1" i="0">
                <a:solidFill>
                  <a:srgbClr val="17221E"/>
                </a:solidFill>
              </a:rPr>
              <a:t>Prove repeatability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D4C79-9552-496B-BAE5-2951617D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7221E"/>
                </a:solidFill>
              </a:defRPr>
            </a:pPr>
            <a:r>
              <a:rPr sz="1350" b="1" i="0">
                <a:solidFill>
                  <a:srgbClr val="17221E"/>
                </a:solidFill>
              </a:rPr>
              <a:t>Paying customers + source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86CF3D-9A2C-4946-BCED-AE714CF8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AECBA-A915-47C0-B887-D6A186EC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00575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73817B"/>
                </a:solidFill>
              </a:defRPr>
            </a:pPr>
            <a:r>
              <a:rPr sz="1200" b="0" i="0">
                <a:solidFill>
                  <a:srgbClr val="73817B"/>
                </a:solidFill>
              </a:rPr>
              <a:t>Use customer count, plan selection, retention, and acquisition source to learn which offers and channels are working.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60502-D44C-402F-B65B-CDCD5F60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62200"/>
            <a:ext cx="3238500" cy="36766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23C33"/>
          </a:solidFill>
          <a:ln xmlns:a="http://schemas.openxmlformats.org/drawingml/2006/main" w="9525">
            <a:solidFill>
              <a:srgbClr val="223C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BCD3C6-F813-4A88-BF94-B4C8D5B9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D8B56A"/>
                </a:solidFill>
              </a:defRPr>
            </a:pPr>
            <a:r>
              <a:rPr sz="975" b="1" i="0">
                <a:solidFill>
                  <a:srgbClr val="D8B56A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27EA1-BF40-41D2-996E-7E337C5A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33650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00A47-5AB2-44E3-B849-48FC5E5F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LOW-TOUCH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5BE317-CC64-4755-9E64-20C62B1C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Scale the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775DA-2287-454B-ABA2-9F8FAAD8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Integrations, templates + approvals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4B2696-BADE-4118-AE03-A982A195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815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0110AD-7579-4088-A9D7-B68E3F7A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DDE8E1"/>
                </a:solidFill>
              </a:defRPr>
            </a:pPr>
            <a:r>
              <a:rPr sz="1200" b="0" i="0">
                <a:solidFill>
                  <a:srgbClr val="DDE8E1"/>
                </a:solidFill>
              </a:rPr>
              <a:t>Grow recurring revenue faster than delivery cost as acquisition, onboarding, and fulfillment become repeatable.</a:t>
            </a:r>
          </a:p>
        </p:txBody>
      </p:sp>
    </p:spTree>
    <p:extLst>
      <p:ext uri="{BB962C8B-B14F-4D97-AF65-F5344CB8AC3E}">
        <p14:creationId xmlns:p14="http://schemas.microsoft.com/office/powerpoint/2010/main" val="14146438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BA0964-5B6A-414C-9327-E458E268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F4486-2AD8-4C08-9D7D-2B8EC48E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831CF-4366-465E-A435-852F75F6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PHASE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2A2E5-C61D-4090-A8D0-A91E706E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221E"/>
                </a:solidFill>
              </a:defRPr>
            </a:pPr>
            <a:r>
              <a:rPr sz="2850" b="1" i="0">
                <a:solidFill>
                  <a:srgbClr val="17221E"/>
                </a:solidFill>
              </a:rPr>
              <a:t>Advance when evidence changes—not when the calendar does.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B7A80-3CC7-48A7-AD07-EA0C9944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Each phase must produce a specific proof across demand, product, revenue, delivery, and economics.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49B27-EB7D-42BF-B541-0073C32E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242D8-DBC5-4B6B-888B-88EF81E8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B2W  /  EXECUTIVE STRATEGY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B5B0E-9473-4605-8CF6-62748461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532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JULY 28,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02E14-E424-4D6A-AACD-6FA3C988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36BBD-473A-4AF9-AE1E-1D385C61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6B811-310E-4F7E-9C73-A6F5F3DB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B68124"/>
                </a:solidFill>
              </a:defRPr>
            </a:pPr>
            <a:r>
              <a:rPr sz="750" b="1" i="0">
                <a:solidFill>
                  <a:srgbClr val="B68124"/>
                </a:solidFill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9FE13-AF33-41F3-9569-DAA531BA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241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6C83F-F819-40CA-9CAD-23F2F55A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57450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DDE8E1"/>
                </a:solidFill>
              </a:defRPr>
            </a:pPr>
            <a:r>
              <a:rPr sz="750" b="1" i="0">
                <a:solidFill>
                  <a:srgbClr val="DDE8E1"/>
                </a:solidFill>
              </a:rPr>
              <a:t>PHASE 1  / 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6D7BE-A3E3-4554-B17C-4E31AE31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241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96A3A-00E7-45B9-88F6-609A6361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57450"/>
            <a:ext cx="2971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DDE8E1"/>
                </a:solidFill>
              </a:defRPr>
            </a:pPr>
            <a:r>
              <a:rPr sz="750" b="1" i="0">
                <a:solidFill>
                  <a:srgbClr val="DDE8E1"/>
                </a:solidFill>
              </a:rPr>
              <a:t>PHASE 2  /  REPEATABILITY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0A0FC-D709-4BAC-B9F0-7282AF2C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320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203B2-6FA8-4DF5-ABCF-D422E69F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DDE8E1"/>
                </a:solidFill>
              </a:defRPr>
            </a:pPr>
            <a:r>
              <a:rPr sz="750" b="1" i="0">
                <a:solidFill>
                  <a:srgbClr val="DDE8E1"/>
                </a:solidFill>
              </a:rPr>
              <a:t>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08E1E-33EE-4A1E-B370-F822B88A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1866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DF72B-F315-4A8A-872E-FF7FB50D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Customers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B1A44-114D-4865-94AD-D05B929D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43200"/>
            <a:ext cx="285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C4121-2D92-4BF6-BFB0-73EEBBD0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860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Qualified demos + consultations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F9273-6386-4B23-9FDF-A411C360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C96AB-CC0F-485C-9AC0-83294A44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860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Paying customers + source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07C763-55B8-4A44-9B3F-96EF4CA7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3200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630360-66C3-4125-9227-0D2E66A6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860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Repeatable acquisition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07171E-D8AE-4067-853A-657EAFC8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4225"/>
            <a:ext cx="1866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54EAF-07BA-4B67-A9D2-4635B6BB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Product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9F86C-EBB0-4651-8F4C-1A9F4C15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24225"/>
            <a:ext cx="285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38DD58-2D7E-4B05-8CDA-847F52CF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671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Useful free tools + demo proven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B75C80-B715-4084-8BE3-1C9609C2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24225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B83F3A-5540-44E6-AF27-535288F7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671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Paid product in recurring use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87E16E-AC3E-4459-83F4-2078A1C1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24225"/>
            <a:ext cx="3200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C30A6F-A870-4000-9BC6-93D54AC3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671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Configurable platform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ED7C8F-1AEF-45B7-A188-42C189F8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866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B523BE-1BDC-4091-A418-58228D03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Revenue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2174A4-C663-45F4-9346-C716F4E3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285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167E7D-9068-41CC-831D-A4737233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481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Offer interest validated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09772E-F45E-4F2E-9605-FE412F35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05250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2DEEC8-C744-4B7D-88D9-EC4B0DAB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4812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Initial recurring revenue + retention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163922-F9C9-4046-B46C-E97F2CCD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3200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61400B-2751-4470-8F0C-8E874388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481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Predictable growth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0D37FA-EE7E-46B0-824A-AE9676E6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86275"/>
            <a:ext cx="1866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F05D63-1012-48C4-88CE-F7AAC360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Delivery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92CBEE-7A3B-4574-860D-827FD122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86275"/>
            <a:ext cx="285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ACC64E-8658-4703-AA2F-36D24A16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291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Founder-led demos + consultations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BB6466-379F-4626-BF58-0E12B1F9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86275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37D60A-4BFE-4BD5-AF55-86D2D24B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291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Standardized onboarding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7E84D8-B779-4A87-9CDE-E4C1898A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86275"/>
            <a:ext cx="3200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9F8299-EE5B-45E2-B156-AA553CAF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291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Low-touch deployment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EE6521-3FF4-495E-98CB-70C5D7AD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1866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B1C8D2-7B70-4BE5-AB07-C144C340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Economics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EBAA6C-1184-4443-9A6F-F43D9C22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285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E7172A-82CF-4366-8473-A6F23750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101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Demand signal validated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DCD0A9-A199-4AAC-BA9B-2A5506AD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67300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DB9ABB-BF14-4380-8FEC-51A7E351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101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Positive contribution margin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B4F73B-36BF-4747-86AD-B825E2FD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67300"/>
            <a:ext cx="3200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10864C-9728-45E0-8B38-156A9838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101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17221E"/>
                </a:solidFill>
              </a:defRPr>
            </a:pPr>
            <a:r>
              <a:rPr sz="1050" b="0" i="0">
                <a:solidFill>
                  <a:srgbClr val="17221E"/>
                </a:solidFill>
              </a:rPr>
              <a:t>Strong gross margin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FD434E-7F88-47E6-A5C8-350CEC0D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73817B"/>
                </a:solidFill>
              </a:defRPr>
            </a:pPr>
            <a:r>
              <a:rPr sz="975" b="1" i="0">
                <a:solidFill>
                  <a:srgbClr val="73817B"/>
                </a:solidFill>
              </a:rPr>
              <a:t>Phase 1 → consistent demand signals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A6E93C-75EF-47C9-AC0D-17F22EE8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245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73817B"/>
                </a:solidFill>
              </a:defRPr>
            </a:pPr>
            <a:r>
              <a:rPr sz="975" b="1" i="0">
                <a:solidFill>
                  <a:srgbClr val="73817B"/>
                </a:solidFill>
              </a:rPr>
              <a:t>Phase 2 → payment, use, retention, source data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0AB816-3094-4B5D-B18A-FC4B3D28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2455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3817B"/>
                </a:solidFill>
              </a:defRPr>
            </a:pPr>
            <a:r>
              <a:rPr sz="975" b="1" i="0">
                <a:solidFill>
                  <a:srgbClr val="73817B"/>
                </a:solidFill>
              </a:rPr>
              <a:t>Scale → predictable system</a:t>
            </a:r>
          </a:p>
        </p:txBody>
      </p:sp>
    </p:spTree>
    <p:extLst>
      <p:ext uri="{BB962C8B-B14F-4D97-AF65-F5344CB8AC3E}">
        <p14:creationId xmlns:p14="http://schemas.microsoft.com/office/powerpoint/2010/main" val="17283207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40C362-D5A8-4DDA-B87B-92AEB586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EF43F-A552-4D0C-BA48-BE8A9EC3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2E47C-F4B2-48E1-BF45-4E8118B0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WHAT TO BUILD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11DD6-3EDE-4789-AC0F-9E9D3D09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7221E"/>
                </a:solidFill>
              </a:defRPr>
            </a:pPr>
            <a:r>
              <a:rPr sz="3300" b="1" i="0">
                <a:solidFill>
                  <a:srgbClr val="17221E"/>
                </a:solidFill>
              </a:rPr>
              <a:t>Prove one complete workflow before expanding.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B55E9-2DC9-40F3-92F0-B6E20C4A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The winning product is the reliable passage from a business request to an approved, recorded outcome.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CC460-0E83-49CF-896A-CC0B5F4C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DDF4F-46A0-464C-9A50-10F19342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B2W  /  EXECUTIVE STRATEGY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E7A6C-3B24-49E9-A595-BF729B96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532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JULY 28,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60AE9-C114-4011-95BF-57C5062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B917F-1E1D-4518-AEFF-12E7DC6B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528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82EC8-0842-4A31-88E2-EB49B4D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52400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8A38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A7B06-7948-4E97-A4D3-EEE5737C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8124"/>
                </a:solidFill>
              </a:defRPr>
            </a:pPr>
            <a:r>
              <a:rPr sz="900" b="1" i="0">
                <a:solidFill>
                  <a:srgbClr val="B68124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F76B2-528F-46CB-BDAB-0019104F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221E"/>
                </a:solidFill>
              </a:defRPr>
            </a:pPr>
            <a:r>
              <a:rPr sz="1500" b="1" i="0">
                <a:solidFill>
                  <a:srgbClr val="17221E"/>
                </a:solidFill>
              </a:rPr>
              <a:t>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DB0A9-F942-4BF2-9190-9B7314F6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73817B"/>
                </a:solidFill>
              </a:defRPr>
            </a:pPr>
            <a:r>
              <a:rPr sz="1050" b="0" i="0">
                <a:solidFill>
                  <a:srgbClr val="73817B"/>
                </a:solidFill>
              </a:rPr>
              <a:t>WhatsApp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E0EA1-62EB-4667-BBD2-4985F95A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528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854F5-7874-4000-AEF3-FAADCF46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28900"/>
            <a:ext cx="152400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76CDC-8795-4B26-AA53-8CA03A06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003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8124"/>
                </a:solidFill>
              </a:defRPr>
            </a:pPr>
            <a:r>
              <a:rPr sz="900" b="1" i="0">
                <a:solidFill>
                  <a:srgbClr val="B68124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A63CC-F626-4B6A-9EB1-BA333EED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194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221E"/>
                </a:solidFill>
              </a:defRPr>
            </a:pPr>
            <a:r>
              <a:rPr sz="1500" b="1" i="0">
                <a:solidFill>
                  <a:srgbClr val="17221E"/>
                </a:solidFill>
              </a:rPr>
              <a:t>Understand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4A825-5594-4A84-83F9-6C964FE0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766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73817B"/>
                </a:solidFill>
              </a:defRPr>
            </a:pPr>
            <a:r>
              <a:rPr sz="1050" b="0" i="0">
                <a:solidFill>
                  <a:srgbClr val="73817B"/>
                </a:solidFill>
              </a:rPr>
              <a:t>Intent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F15B5-0137-4F5D-8447-6B9CFEA9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528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368AD-68A3-4EA0-86E8-D7236A64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152400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CC89F-4379-4D68-B38D-3F39F138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8124"/>
                </a:solidFill>
              </a:defRPr>
            </a:pPr>
            <a:r>
              <a:rPr sz="900" b="1" i="0">
                <a:solidFill>
                  <a:srgbClr val="B68124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02C1A-0C37-498B-9772-C0957B6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221E"/>
                </a:solidFill>
              </a:defRPr>
            </a:pPr>
            <a:r>
              <a:rPr sz="1500" b="1" i="0">
                <a:solidFill>
                  <a:srgbClr val="17221E"/>
                </a:solidFill>
              </a:rPr>
              <a:t>Retrieve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25D5A-7E35-4D52-A51A-EB3D2F96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766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73817B"/>
                </a:solidFill>
              </a:defRPr>
            </a:pPr>
            <a:r>
              <a:rPr sz="1050" b="0" i="0">
                <a:solidFill>
                  <a:srgbClr val="73817B"/>
                </a:solidFill>
              </a:rPr>
              <a:t>Project + 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70222-22AE-4935-89E6-195CBE9F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528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E34B9-936E-4FE4-B23E-B31F6FD4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152400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526452-8136-4D49-980C-34D94D0E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8124"/>
                </a:solidFill>
              </a:defRPr>
            </a:pPr>
            <a:r>
              <a:rPr sz="900" b="1" i="0">
                <a:solidFill>
                  <a:srgbClr val="B68124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F80C71-1323-46FE-85DF-74D862A1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221E"/>
                </a:solidFill>
              </a:defRPr>
            </a:pPr>
            <a:r>
              <a:rPr sz="1500" b="1" i="0">
                <a:solidFill>
                  <a:srgbClr val="17221E"/>
                </a:solidFill>
              </a:rPr>
              <a:t>Create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120AE-CBE5-433B-942E-E80D337F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73817B"/>
                </a:solidFill>
              </a:defRPr>
            </a:pPr>
            <a:r>
              <a:rPr sz="1050" b="0" i="0">
                <a:solidFill>
                  <a:srgbClr val="73817B"/>
                </a:solidFill>
              </a:rPr>
              <a:t>Document skill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7EBDEF-D1FF-4E14-A97C-C599AE39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528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B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A87770-1E7A-4714-9405-9E70AF7E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152400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E53B8A-DA0C-4505-832C-DD697C23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68124"/>
                </a:solidFill>
              </a:defRPr>
            </a:pPr>
            <a:r>
              <a:rPr sz="900" b="1" i="0">
                <a:solidFill>
                  <a:srgbClr val="B68124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9220E3-8544-401A-BB48-9EC02D9F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7221E"/>
                </a:solidFill>
              </a:defRPr>
            </a:pPr>
            <a:r>
              <a:rPr sz="1500" b="1" i="0">
                <a:solidFill>
                  <a:srgbClr val="17221E"/>
                </a:solidFill>
              </a:rPr>
              <a:t>Approve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1E6527-388E-46A9-A41C-E79A7074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73817B"/>
                </a:solidFill>
              </a:defRPr>
            </a:pPr>
            <a:r>
              <a:rPr sz="1050" b="0" i="0">
                <a:solidFill>
                  <a:srgbClr val="73817B"/>
                </a:solidFill>
              </a:rPr>
              <a:t>Human control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728640-B577-4309-86C7-ABDBFBE8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28900"/>
            <a:ext cx="1524000" cy="1809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23C33"/>
          </a:solidFill>
          <a:ln xmlns:a="http://schemas.openxmlformats.org/drawingml/2006/main" w="9525">
            <a:solidFill>
              <a:srgbClr val="223C3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212B9C-DAFD-40BC-8A73-1E95B430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003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D8B56A"/>
                </a:solidFill>
              </a:defRPr>
            </a:pPr>
            <a:r>
              <a:rPr sz="900" b="1" i="0">
                <a:solidFill>
                  <a:srgbClr val="D8B56A"/>
                </a:solidFill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028CC7-C532-4E16-8140-54FE25A7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194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Record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ECF01E-08B1-4728-BAD1-56F88A5A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766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DDE8E1"/>
                </a:solidFill>
              </a:defRPr>
            </a:pPr>
            <a:r>
              <a:rPr sz="1050" b="0" i="0">
                <a:solidFill>
                  <a:srgbClr val="DDE8E1"/>
                </a:solidFill>
              </a:rPr>
              <a:t>Save + action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B5CAD-A56C-4D63-987F-52F93C85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1104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2E143A-46F3-4A18-BFD4-96A917D6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B68124"/>
                </a:solidFill>
              </a:defRPr>
            </a:pPr>
            <a:r>
              <a:rPr sz="750" b="1" i="0">
                <a:solidFill>
                  <a:srgbClr val="B68124"/>
                </a:solidFill>
              </a:rPr>
              <a:t>FIRST WORKFLOW TEST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D2BAF2-CCD4-44A1-9F8F-A37F0314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23C33"/>
                </a:solidFill>
              </a:defRPr>
            </a:pPr>
            <a:r>
              <a:rPr sz="1275" b="1" i="0">
                <a:solidFill>
                  <a:srgbClr val="223C33"/>
                </a:solidFill>
              </a:rPr>
              <a:t>A contractor asks for an estimate or proposal → B2W retrieves context → drafts the document → requests approval → saves, shares, and records the result.</a:t>
            </a:r>
          </a:p>
        </p:txBody>
      </p:sp>
    </p:spTree>
    <p:extLst>
      <p:ext uri="{BB962C8B-B14F-4D97-AF65-F5344CB8AC3E}">
        <p14:creationId xmlns:p14="http://schemas.microsoft.com/office/powerpoint/2010/main" val="6905080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8FF2B-0530-4DFE-8CEE-35804C33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5ABC3-90A4-4AF0-8D5D-0D210657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08455-8592-4871-9549-5EC68E4C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OWNERSHIP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C48B2-7F2F-421A-A658-49A7B20A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7221E"/>
                </a:solidFill>
              </a:defRPr>
            </a:pPr>
            <a:r>
              <a:rPr sz="3300" b="1" i="0">
                <a:solidFill>
                  <a:srgbClr val="17221E"/>
                </a:solidFill>
              </a:rPr>
              <a:t>Three leaders. One evidence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5DBC4-62DE-4760-B138-2D914BAB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Clear ownership keeps market learning, operating discipline, and product architecture synchronized.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1D18D-AE1C-4E06-A54F-6662F5DB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7F294-F43F-4202-A0A2-4F04167C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B2W  /  EXECUTIVE STRATEGY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1E4C4-9596-4296-A818-9C9897F6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532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JULY 28,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B7464-0A3D-414E-8538-70B812EE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480CE-3829-472E-A81F-3A42B15E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32385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223C33"/>
          </a:solidFill>
          <a:ln xmlns:a="http://schemas.openxmlformats.org/drawingml/2006/main" w="9525">
            <a:solidFill>
              <a:srgbClr val="223C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09688-55DD-4878-8BB2-3BCBC10F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D8B56A"/>
                </a:solidFill>
              </a:defRPr>
            </a:pPr>
            <a:r>
              <a:rPr sz="975" b="1" i="0">
                <a:solidFill>
                  <a:srgbClr val="D8B56A"/>
                </a:solidFill>
              </a:rPr>
              <a:t>CEO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69F7F-5727-4865-B453-2BDD8367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Market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0F1FC-636C-4D6E-BF28-9C45EB87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76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DDE8E1"/>
                </a:solidFill>
              </a:defRPr>
            </a:pPr>
            <a:r>
              <a:rPr sz="1575" b="1" i="0">
                <a:solidFill>
                  <a:srgbClr val="DDE8E1"/>
                </a:solidFill>
              </a:rPr>
              <a:t>Positioning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DDE8E1"/>
                </a:solidFill>
              </a:defRPr>
            </a:pPr>
            <a:r>
              <a:rPr sz="1575" b="1" i="0">
                <a:solidFill>
                  <a:srgbClr val="DDE8E1"/>
                </a:solidFill>
              </a:rPr>
              <a:t>Pricing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DDE8E1"/>
                </a:solidFill>
              </a:defRPr>
            </a:pPr>
            <a:r>
              <a:rPr sz="1575" b="1" i="0">
                <a:solidFill>
                  <a:srgbClr val="DDE8E1"/>
                </a:solidFill>
              </a:rPr>
              <a:t>Partnerships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DDE8E1"/>
                </a:solidFill>
              </a:defRPr>
            </a:pPr>
            <a:r>
              <a:rPr sz="1575" b="1" i="0">
                <a:solidFill>
                  <a:srgbClr val="DDE8E1"/>
                </a:solidFill>
              </a:rPr>
              <a:t>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25FBD-748E-4C34-87F5-98998BE8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32385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DAAD1-AD97-47C1-8A56-C5735FC9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COO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7386A-AD0D-4976-9019-68915C68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7221E"/>
                </a:solidFill>
              </a:defRPr>
            </a:pPr>
            <a:r>
              <a:rPr sz="2175" b="1" i="0">
                <a:solidFill>
                  <a:srgbClr val="17221E"/>
                </a:solidFill>
              </a:rPr>
              <a:t>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6063E-A27D-49ED-8457-F6098B99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76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223C33"/>
                </a:solidFill>
              </a:defRPr>
            </a:pPr>
            <a:r>
              <a:rPr sz="1575" b="1" i="0">
                <a:solidFill>
                  <a:srgbClr val="223C33"/>
                </a:solidFill>
              </a:rPr>
              <a:t>Priorities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223C33"/>
                </a:solidFill>
              </a:defRPr>
            </a:pPr>
            <a:r>
              <a:rPr sz="1575" b="1" i="0">
                <a:solidFill>
                  <a:srgbClr val="223C33"/>
                </a:solidFill>
              </a:rPr>
              <a:t>Onboarding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223C33"/>
                </a:solidFill>
              </a:defRPr>
            </a:pPr>
            <a:r>
              <a:rPr sz="1575" b="1" i="0">
                <a:solidFill>
                  <a:srgbClr val="223C33"/>
                </a:solidFill>
              </a:rPr>
              <a:t>Delivery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223C33"/>
                </a:solidFill>
              </a:defRPr>
            </a:pPr>
            <a:r>
              <a:rPr sz="1575" b="1" i="0">
                <a:solidFill>
                  <a:srgbClr val="223C33"/>
                </a:solidFill>
              </a:rPr>
              <a:t>Customer success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8DF78-A246-437D-8CBA-93B0C7F4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32385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DDE8E1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A7F88-358F-43CA-8E2B-FACC82A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CTO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1723E-6E02-436A-9153-7FF32711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7221E"/>
                </a:solidFill>
              </a:defRPr>
            </a:pPr>
            <a:r>
              <a:rPr sz="2175" b="1" i="0">
                <a:solidFill>
                  <a:srgbClr val="17221E"/>
                </a:solidFill>
              </a:rPr>
              <a:t>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9936A-34BB-4CB4-A150-62E36138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76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223C33"/>
                </a:solidFill>
              </a:defRPr>
            </a:pPr>
            <a:r>
              <a:rPr sz="1575" b="1" i="0">
                <a:solidFill>
                  <a:srgbClr val="223C33"/>
                </a:solidFill>
              </a:rPr>
              <a:t>Architecture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223C33"/>
                </a:solidFill>
              </a:defRPr>
            </a:pPr>
            <a:r>
              <a:rPr sz="1575" b="1" i="0">
                <a:solidFill>
                  <a:srgbClr val="223C33"/>
                </a:solidFill>
              </a:rPr>
              <a:t>Integrations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223C33"/>
                </a:solidFill>
              </a:defRPr>
            </a:pPr>
            <a:r>
              <a:rPr sz="1575" b="1" i="0">
                <a:solidFill>
                  <a:srgbClr val="223C33"/>
                </a:solidFill>
              </a:rPr>
              <a:t>Security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 i="0">
                <a:solidFill>
                  <a:srgbClr val="223C33"/>
                </a:solidFill>
              </a:defRPr>
            </a:pPr>
            <a:r>
              <a:rPr sz="1575" b="1" i="0">
                <a:solidFill>
                  <a:srgbClr val="223C33"/>
                </a:solidFill>
              </a:rPr>
              <a:t>Reliability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9D3E6-0D5A-444D-BF5B-800F1473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92964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B5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D401C-185C-4195-B47F-3411ECD3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10250"/>
            <a:ext cx="891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3817B"/>
                </a:solidFill>
              </a:defRPr>
            </a:pPr>
            <a:r>
              <a:rPr sz="1125" b="1" i="0">
                <a:solidFill>
                  <a:srgbClr val="73817B"/>
                </a:solidFill>
              </a:rPr>
              <a:t>Weekly loop: market signal  →  product priority  →  delivery evidence  →  pricing and positioning</a:t>
            </a:r>
          </a:p>
        </p:txBody>
      </p:sp>
    </p:spTree>
    <p:extLst>
      <p:ext uri="{BB962C8B-B14F-4D97-AF65-F5344CB8AC3E}">
        <p14:creationId xmlns:p14="http://schemas.microsoft.com/office/powerpoint/2010/main" val="12735869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220B0A-10D3-4F7D-9A9A-0E490AE1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A8B42-7E92-49C4-B182-0849D0F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9755C-40F2-48E5-B033-3EC16A24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FINANCIAL PROGRESSION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69F4C-BCEF-402E-8B74-0216A225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221E"/>
                </a:solidFill>
              </a:defRPr>
            </a:pPr>
            <a:r>
              <a:rPr sz="2850" b="1" i="0">
                <a:solidFill>
                  <a:srgbClr val="17221E"/>
                </a:solidFill>
              </a:rPr>
              <a:t>Use scenarios to expose the operating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B5E70-7C56-45D8-9006-CE0ABD1A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These are planning cases—not forecasts. Each step requires stronger acquisition, retention, automation, and gross margin.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6C7D9-8361-4B81-8143-87DEED15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0D343-0D72-4483-8427-E340814C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B2W  /  EXECUTIVE STRATEGY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36FD8-8058-4E04-A748-81A2AABA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532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JULY 28,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B8FF2-32F6-4282-9853-7D481356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A3EAE-5594-4411-A2F8-EE48E70A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AEC1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4642B-4EDA-477A-BBBC-251D4E43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17221E"/>
                </a:solidFill>
              </a:defRPr>
            </a:pPr>
            <a:r>
              <a:rPr sz="2325" b="1" i="0">
                <a:solidFill>
                  <a:srgbClr val="17221E"/>
                </a:solidFill>
              </a:rPr>
              <a:t>$120K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ECF22-052F-4B51-9DB9-9D592EFA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223C33"/>
                </a:solidFill>
              </a:defRPr>
            </a:pPr>
            <a:r>
              <a:rPr sz="750" b="1" i="0">
                <a:solidFill>
                  <a:srgbClr val="223C33"/>
                </a:solidFill>
              </a:rPr>
              <a:t>ARR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7DBC3-42D1-445C-BA83-CF04E09F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73817B"/>
                </a:solidFill>
              </a:defRPr>
            </a:pPr>
            <a:r>
              <a:rPr sz="750" b="1" i="0">
                <a:solidFill>
                  <a:srgbClr val="73817B"/>
                </a:solidFill>
              </a:rPr>
              <a:t>INITIAL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A6063-4AF4-4421-B7AC-F304DC20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53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17221E"/>
                </a:solidFill>
              </a:defRPr>
            </a:pPr>
            <a:r>
              <a:rPr sz="900" b="1" i="0">
                <a:solidFill>
                  <a:srgbClr val="17221E"/>
                </a:solidFill>
              </a:rPr>
              <a:t>10 customers  •  $1K/mo avg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98F52-B9DE-4EFC-9D0F-982D5039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148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3D6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C4979-8277-472A-B0C3-44F371F8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86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$900K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D1A27-FA31-4160-888C-738AC8C6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673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DDE8E1"/>
                </a:solidFill>
              </a:defRPr>
            </a:pPr>
            <a:r>
              <a:rPr sz="750" b="1" i="0">
                <a:solidFill>
                  <a:srgbClr val="DDE8E1"/>
                </a:solidFill>
              </a:rPr>
              <a:t>ARR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B5710-FE10-44ED-9DD9-CB3E80F8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8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73817B"/>
                </a:solidFill>
              </a:defRPr>
            </a:pPr>
            <a:r>
              <a:rPr sz="750" b="1" i="0">
                <a:solidFill>
                  <a:srgbClr val="73817B"/>
                </a:solidFill>
              </a:rPr>
              <a:t>INTEGRATED 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AAF35-2740-4304-9848-02B2D7A2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153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17221E"/>
                </a:solidFill>
              </a:defRPr>
            </a:pPr>
            <a:r>
              <a:rPr sz="900" b="1" i="0">
                <a:solidFill>
                  <a:srgbClr val="17221E"/>
                </a:solidFill>
              </a:rPr>
              <a:t>50 customers  •  $1.5K/mo avg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BF7F3-9378-43F0-9A13-C782E11D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2095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23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EB714-50EF-4492-9F5F-B881B9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$6M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3D02F-3611-4AEE-9297-AE5F77B5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DDE8E1"/>
                </a:solidFill>
              </a:defRPr>
            </a:pPr>
            <a:r>
              <a:rPr sz="750" b="1" i="0">
                <a:solidFill>
                  <a:srgbClr val="DDE8E1"/>
                </a:solidFill>
              </a:rPr>
              <a:t>ARR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40A01-DB00-42EE-89EE-8D1A9825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88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73817B"/>
                </a:solidFill>
              </a:defRPr>
            </a:pPr>
            <a:r>
              <a:rPr sz="750" b="1" i="0">
                <a:solidFill>
                  <a:srgbClr val="73817B"/>
                </a:solidFill>
              </a:rPr>
              <a:t>EARLY SCALE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638F5-1A99-4F56-9307-24F67C68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153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17221E"/>
                </a:solidFill>
              </a:defRPr>
            </a:pPr>
            <a:r>
              <a:rPr sz="900" b="1" i="0">
                <a:solidFill>
                  <a:srgbClr val="17221E"/>
                </a:solidFill>
              </a:rPr>
              <a:t>250 customers  •  $2K/mo avg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342C9-FB6E-4DB5-85B3-577E6AA5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95600"/>
            <a:ext cx="2095500" cy="2857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B68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F1612E-0805-4414-A230-CF4699C1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67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$30M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8326F-72CE-4194-ACE6-6E597E45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DDE8E1"/>
                </a:solidFill>
              </a:defRPr>
            </a:pPr>
            <a:r>
              <a:rPr sz="750" b="1" i="0">
                <a:solidFill>
                  <a:srgbClr val="DDE8E1"/>
                </a:solidFill>
              </a:rPr>
              <a:t>ARR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FC6382-9798-46CA-9854-006C3A2D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88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73817B"/>
                </a:solidFill>
              </a:defRPr>
            </a:pPr>
            <a:r>
              <a:rPr sz="750" b="1" i="0">
                <a:solidFill>
                  <a:srgbClr val="73817B"/>
                </a:solidFill>
              </a:rPr>
              <a:t>PLATFORM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53EA4E-DAC1-45AE-AFA0-A12E8348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153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17221E"/>
                </a:solidFill>
              </a:defRPr>
            </a:pPr>
            <a:r>
              <a:rPr sz="900" b="1" i="0">
                <a:solidFill>
                  <a:srgbClr val="17221E"/>
                </a:solidFill>
              </a:rPr>
              <a:t>1,000 customers  •  $2.5K/mo avg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67FB55-8F54-48E1-8AEE-C0540C2F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B68124"/>
                </a:solidFill>
              </a:defRPr>
            </a:pPr>
            <a:r>
              <a:rPr sz="750" b="1" i="0">
                <a:solidFill>
                  <a:srgbClr val="B68124"/>
                </a:solidFill>
              </a:rPr>
              <a:t>SCENARIO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990414-B594-483D-A4B1-0495EA4E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955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221E"/>
                </a:solidFill>
              </a:defRPr>
            </a:pPr>
            <a:r>
              <a:rPr sz="1500" b="1" i="0">
                <a:solidFill>
                  <a:srgbClr val="17221E"/>
                </a:solidFill>
              </a:rPr>
              <a:t>ARR grows only when the operating system behind it becomes repeatable.</a:t>
            </a:r>
          </a:p>
        </p:txBody>
      </p:sp>
    </p:spTree>
    <p:extLst>
      <p:ext uri="{BB962C8B-B14F-4D97-AF65-F5344CB8AC3E}">
        <p14:creationId xmlns:p14="http://schemas.microsoft.com/office/powerpoint/2010/main" val="9711538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60E3E2-AA1B-42FC-BC6E-C4640A7C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A3DC8-F1A7-473C-87DF-4CC42ABA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68124"/>
                </a:solidFill>
              </a:defRPr>
            </a:pPr>
            <a:r>
              <a:rPr sz="975" b="1" i="0">
                <a:solidFill>
                  <a:srgbClr val="B68124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2AEA6-DB03-42B3-9C13-02984C73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3817B"/>
                </a:solidFill>
              </a:defRPr>
            </a:pPr>
            <a:r>
              <a:rPr sz="825" b="1" i="0">
                <a:solidFill>
                  <a:srgbClr val="73817B"/>
                </a:solidFill>
              </a:rPr>
              <a:t>90-DAY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9F727-8F64-4B6B-A958-ED1D65C6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7221E"/>
                </a:solidFill>
              </a:defRPr>
            </a:pPr>
            <a:r>
              <a:rPr sz="2850" b="1" i="0">
                <a:solidFill>
                  <a:srgbClr val="17221E"/>
                </a:solidFill>
              </a:rPr>
              <a:t>Learn fast enough to make the next decision obvious.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59A3E-1A41-48FF-854D-5E903884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57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73817B"/>
                </a:solidFill>
              </a:defRPr>
            </a:pPr>
            <a:r>
              <a:rPr sz="1350" b="0" i="0">
                <a:solidFill>
                  <a:srgbClr val="73817B"/>
                </a:solidFill>
              </a:rPr>
              <a:t>The near-term objective is not feature volume. It is evidence of demand, payment, use, and repeatability.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C263B-01FC-48A4-9B21-1051E7D5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4F965-54B0-48A1-9B8F-96D8F18A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B2W  /  EXECUTIVE STRATEGY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90A17-A189-4F8E-9901-708FE110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5532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73817B"/>
                </a:solidFill>
              </a:defRPr>
            </a:pPr>
            <a:r>
              <a:rPr sz="675" b="1" i="0">
                <a:solidFill>
                  <a:srgbClr val="73817B"/>
                </a:solidFill>
              </a:rPr>
              <a:t>JULY 28,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F17F8-1D38-4ABF-A7ED-B285BFC0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532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85B18-7830-40DD-9978-3DEE28DD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3238500" cy="3524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6821F-F205-4808-91FF-C78BB2E2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68124"/>
                </a:solidFill>
              </a:defRPr>
            </a:pPr>
            <a:r>
              <a:rPr sz="825" b="1" i="0">
                <a:solidFill>
                  <a:srgbClr val="B68124"/>
                </a:solidFill>
              </a:rPr>
              <a:t>DAYS 1–30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1B232-894F-4499-AB75-0C328B07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21E"/>
                </a:solidFill>
              </a:defRPr>
            </a:pPr>
            <a:r>
              <a:rPr sz="2100" b="1" i="0">
                <a:solidFill>
                  <a:srgbClr val="17221E"/>
                </a:solidFill>
              </a:rPr>
              <a:t>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4413B-75D2-48E1-A295-FFE5C021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0DFF8-9D90-4440-9376-DDB779D9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81ECA-6F28-4C46-B11F-FA536B13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23C33"/>
                </a:solidFill>
              </a:defRPr>
            </a:pPr>
            <a:r>
              <a:rPr sz="1200" b="1" i="0">
                <a:solidFill>
                  <a:srgbClr val="223C33"/>
                </a:solidFill>
              </a:rPr>
              <a:t>Select contracting segment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08677-5E15-4142-AB51-13BD3D91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204E7-491F-49AD-BF04-019A48C3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5D6EF-101F-4178-B1B6-6C0627D9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23C33"/>
                </a:solidFill>
              </a:defRPr>
            </a:pPr>
            <a:r>
              <a:rPr sz="1200" b="1" i="0">
                <a:solidFill>
                  <a:srgbClr val="223C33"/>
                </a:solidFill>
              </a:rPr>
              <a:t>Define the paid offer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42F44-D167-4A3F-8639-1D95E091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27A1D-E134-4394-A9D6-1EAB6F3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B8245-5170-42CC-AE5D-2FD96F9C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23C33"/>
                </a:solidFill>
              </a:defRPr>
            </a:pPr>
            <a:r>
              <a:rPr sz="1200" b="1" i="0">
                <a:solidFill>
                  <a:srgbClr val="223C33"/>
                </a:solidFill>
              </a:rPr>
              <a:t>Specify the first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B032C-42E9-493B-A579-79B64B66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0300"/>
            <a:ext cx="3238500" cy="3524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8E1"/>
          </a:solidFill>
          <a:ln xmlns:a="http://schemas.openxmlformats.org/drawingml/2006/main" w="9525">
            <a:solidFill>
              <a:srgbClr val="D7D9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E489E-0DED-4ACF-8235-4BD2FCE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68124"/>
                </a:solidFill>
              </a:defRPr>
            </a:pPr>
            <a:r>
              <a:rPr sz="825" b="1" i="0">
                <a:solidFill>
                  <a:srgbClr val="B68124"/>
                </a:solidFill>
              </a:rPr>
              <a:t>DAYS 31–60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A2973C-1410-444F-A557-D0AE2612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221E"/>
                </a:solidFill>
              </a:defRPr>
            </a:pPr>
            <a:r>
              <a:rPr sz="2100" b="1" i="0">
                <a:solidFill>
                  <a:srgbClr val="17221E"/>
                </a:solidFill>
              </a:rPr>
              <a:t>Build + onboard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213B4-3648-4C3D-8B78-EA6BAFDE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385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B3C9DC-A0D4-4F1D-92D1-69F70D43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CCAE2-9E39-4488-9843-AA6D58FA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23C33"/>
                </a:solidFill>
              </a:defRPr>
            </a:pPr>
            <a:r>
              <a:rPr sz="1200" b="1" i="0">
                <a:solidFill>
                  <a:srgbClr val="223C33"/>
                </a:solidFill>
              </a:rPr>
              <a:t>Validate assistant-to-document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B7652-2F2C-47C6-B2A2-2D0AA871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291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6C13A1-1A1C-4B4D-A900-0A3F2867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5770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1D5994-7DE1-4BB9-A90E-C87E574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005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23C33"/>
                </a:solidFill>
              </a:defRPr>
            </a:pPr>
            <a:r>
              <a:rPr sz="1200" b="1" i="0">
                <a:solidFill>
                  <a:srgbClr val="223C33"/>
                </a:solidFill>
              </a:rPr>
              <a:t>Onboard initial customers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ECEF12-1F7A-431E-AAF8-6E643866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96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CA08AD-96B1-4DF5-8A5C-FF66CD6A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B68124"/>
                </a:solidFill>
              </a:defRPr>
            </a:pPr>
            <a:r>
              <a:rPr sz="675" b="1" i="0">
                <a:solidFill>
                  <a:srgbClr val="B68124"/>
                </a:solidFill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C43A68-F019-4547-A00A-9C0B9D26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911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23C33"/>
                </a:solidFill>
              </a:defRPr>
            </a:pPr>
            <a:r>
              <a:rPr sz="1200" b="1" i="0">
                <a:solidFill>
                  <a:srgbClr val="223C33"/>
                </a:solidFill>
              </a:rPr>
              <a:t>Measure time-to-first-value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63823-2F67-4BDA-878A-2E26D914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238500" cy="3524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23C33"/>
          </a:solidFill>
          <a:ln xmlns:a="http://schemas.openxmlformats.org/drawingml/2006/main" w="9525">
            <a:solidFill>
              <a:srgbClr val="223C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6F6C58-49F6-45F1-9EE6-BAE511DB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D8B56A"/>
                </a:solidFill>
              </a:defRPr>
            </a:pPr>
            <a:r>
              <a:rPr sz="825" b="1" i="0">
                <a:solidFill>
                  <a:srgbClr val="D8B56A"/>
                </a:solidFill>
              </a:rPr>
              <a:t>DAYS 61–90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B09F14-A78F-4BF6-8C60-AA27A907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956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Prove + standardize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CEA016-DC76-4AD4-BED9-8F10F60D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385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616478-B5C5-47AB-AB97-158107C3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E0BCC9-F242-40F0-9BB2-C1DFA644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DDE8E1"/>
                </a:solidFill>
              </a:defRPr>
            </a:pPr>
            <a:r>
              <a:rPr sz="1200" b="1" i="0">
                <a:solidFill>
                  <a:srgbClr val="DDE8E1"/>
                </a:solidFill>
              </a:rPr>
              <a:t>Document recurring use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5C1446-AB92-4AFB-93E9-097C5714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291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F10D81-7178-4264-84E1-4C8D783F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5770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4FF449-0766-46EC-A57A-8E81844A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005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DDE8E1"/>
                </a:solidFill>
              </a:defRPr>
            </a:pPr>
            <a:r>
              <a:rPr sz="1200" b="1" i="0">
                <a:solidFill>
                  <a:srgbClr val="DDE8E1"/>
                </a:solidFill>
              </a:rPr>
              <a:t>Validate pricing + outcomes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08F862-A3E2-48DD-8ECD-4548C22C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96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8AAFC5-3FF5-4C0F-B4D7-16EC02DA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04CB32-2E86-4496-A267-5FE9AD8B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911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DDE8E1"/>
                </a:solidFill>
              </a:defRPr>
            </a:pPr>
            <a:r>
              <a:rPr sz="1200" b="1" i="0">
                <a:solidFill>
                  <a:srgbClr val="DDE8E1"/>
                </a:solidFill>
              </a:rPr>
              <a:t>Capture a repeatable playbook</a:t>
            </a:r>
          </a:p>
        </p:txBody>
      </p:sp>
    </p:spTree>
    <p:extLst>
      <p:ext uri="{BB962C8B-B14F-4D97-AF65-F5344CB8AC3E}">
        <p14:creationId xmlns:p14="http://schemas.microsoft.com/office/powerpoint/2010/main" val="4500292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1DA76-7198-4119-85CE-94D36BB5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D4619-83B0-4989-A49B-812C5CF6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D8B56A"/>
                </a:solidFill>
              </a:defRPr>
            </a:pPr>
            <a:r>
              <a:rPr sz="975" b="1" i="0">
                <a:solidFill>
                  <a:srgbClr val="D8B56A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CDFEF-3B88-4339-8F80-999430C3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DDE8E1"/>
                </a:solidFill>
              </a:defRPr>
            </a:pPr>
            <a:r>
              <a:rPr sz="825" b="1" i="0">
                <a:solidFill>
                  <a:srgbClr val="DDE8E1"/>
                </a:solidFill>
              </a:rPr>
              <a:t>EXECUTION TRACKER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63190-61E1-4848-8296-2E2897EE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715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The next proof is a paying customer.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87ACC-C7A7-4869-8AAB-1777ABF5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DDE8E1"/>
                </a:solidFill>
              </a:defRPr>
            </a:pPr>
            <a:r>
              <a:rPr sz="1575" b="0" i="0">
                <a:solidFill>
                  <a:srgbClr val="DDE8E1"/>
                </a:solidFill>
              </a:rPr>
              <a:t>Everything below should sharpen that outcome.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B9EB7-F89E-4BD8-AE65-771D7924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02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2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0F5A8-5D8D-491E-9AD5-1086F706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D8B56A"/>
                </a:solidFill>
              </a:defRPr>
            </a:pPr>
            <a:r>
              <a:rPr sz="825" b="1" i="0">
                <a:solidFill>
                  <a:srgbClr val="D8B56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936DF-E21C-47A8-AEF5-4DEA7780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Demand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1C623-2642-4839-8C15-A7153640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DDE8E1"/>
                </a:solidFill>
              </a:defRPr>
            </a:pPr>
            <a:r>
              <a:rPr sz="1350" b="0" i="0">
                <a:solidFill>
                  <a:srgbClr val="DDE8E1"/>
                </a:solidFill>
              </a:rPr>
              <a:t>Publish useful free tools.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DDE8E1"/>
                </a:solidFill>
              </a:defRPr>
            </a:pPr>
            <a:r>
              <a:rPr sz="1350" b="0" i="0">
                <a:solidFill>
                  <a:srgbClr val="DDE8E1"/>
                </a:solidFill>
              </a:rPr>
              <a:t>Book qualified demos.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DDE8E1"/>
                </a:solidFill>
              </a:defRPr>
            </a:pPr>
            <a:r>
              <a:rPr sz="1350" b="0" i="0">
                <a:solidFill>
                  <a:srgbClr val="DDE8E1"/>
                </a:solidFill>
              </a:rPr>
              <a:t>Run growth consultations.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4D3FB-D4CF-4CFE-B3AD-65BE79DB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384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D8B56A"/>
                </a:solidFill>
              </a:defRPr>
            </a:pPr>
            <a:r>
              <a:rPr sz="825" b="1" i="0">
                <a:solidFill>
                  <a:srgbClr val="D8B56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B18E0-46AB-4E86-8E82-3D09D3C3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Conversion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80C32-AECE-428D-AB8E-3125F7F2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195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DDE8E1"/>
                </a:solidFill>
              </a:defRPr>
            </a:pPr>
            <a:r>
              <a:rPr sz="1350" b="0" i="0">
                <a:solidFill>
                  <a:srgbClr val="DDE8E1"/>
                </a:solidFill>
              </a:rPr>
              <a:t>Present the Core offer.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DDE8E1"/>
                </a:solidFill>
              </a:defRPr>
            </a:pPr>
            <a:r>
              <a:rPr sz="1350" b="0" i="0">
                <a:solidFill>
                  <a:srgbClr val="DDE8E1"/>
                </a:solidFill>
              </a:rPr>
              <a:t>Track source and objections.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DDE8E1"/>
                </a:solidFill>
              </a:defRPr>
            </a:pPr>
            <a:r>
              <a:rPr sz="1350" b="0" i="0">
                <a:solidFill>
                  <a:srgbClr val="DDE8E1"/>
                </a:solidFill>
              </a:rPr>
              <a:t>Close first paying customers.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65BEB-6558-4363-8876-4820A4C1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384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D8B56A"/>
                </a:solidFill>
              </a:defRPr>
            </a:pPr>
            <a:r>
              <a:rPr sz="825" b="1" i="0">
                <a:solidFill>
                  <a:srgbClr val="D8B56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74335-66EC-4575-BF5D-C21940E6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7434B-B3A8-49DD-AB1B-E6B892DD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DDE8E1"/>
                </a:solidFill>
              </a:defRPr>
            </a:pPr>
            <a:r>
              <a:rPr sz="1350" b="0" i="0">
                <a:solidFill>
                  <a:srgbClr val="DDE8E1"/>
                </a:solidFill>
              </a:rPr>
              <a:t>Measure activation and use.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DDE8E1"/>
                </a:solidFill>
              </a:defRPr>
            </a:pPr>
            <a:r>
              <a:rPr sz="1350" b="0" i="0">
                <a:solidFill>
                  <a:srgbClr val="DDE8E1"/>
                </a:solidFill>
              </a:rPr>
              <a:t>Validate pricing and outcomes.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DDE8E1"/>
                </a:solidFill>
              </a:defRPr>
            </a:pPr>
            <a:r>
              <a:rPr sz="1350" b="0" i="0">
                <a:solidFill>
                  <a:srgbClr val="DDE8E1"/>
                </a:solidFill>
              </a:rPr>
              <a:t>Standardize what works.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393EA-8BC4-4BB4-9DCC-4B0F3C42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11163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24E09-FB3A-49B2-B6D7-EF9D3385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B68124"/>
                </a:solidFill>
              </a:defRPr>
            </a:pPr>
            <a:r>
              <a:rPr sz="750" b="1" i="0">
                <a:solidFill>
                  <a:srgbClr val="B68124"/>
                </a:solidFill>
              </a:rPr>
              <a:t>DECISION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C4B73-6A19-42DB-BD04-660D2AC8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7221E"/>
                </a:solidFill>
              </a:defRPr>
            </a:pPr>
            <a:r>
              <a:rPr sz="1500" b="1" i="0">
                <a:solidFill>
                  <a:srgbClr val="17221E"/>
                </a:solidFill>
              </a:rPr>
              <a:t>Keep what produces payment and recurring use. Change what does not.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5FAD3D-61AC-4EC1-AA4A-C883CC0F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DDE8E1"/>
                </a:solidFill>
              </a:defRPr>
            </a:pPr>
            <a:r>
              <a:rPr sz="675" b="1" i="0">
                <a:solidFill>
                  <a:srgbClr val="DDE8E1"/>
                </a:solidFill>
              </a:rPr>
              <a:t>B2W  /  EXECUTIVE STRATEGY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84995-9215-46AB-A763-2A550847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96050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DDE8E1"/>
                </a:solidFill>
              </a:defRPr>
            </a:pPr>
            <a:r>
              <a:rPr sz="675" b="1" i="0">
                <a:solidFill>
                  <a:srgbClr val="DDE8E1"/>
                </a:solidFill>
              </a:rPr>
              <a:t>JULY 28, 2026</a:t>
            </a:r>
          </a:p>
        </p:txBody>
      </p:sp>
    </p:spTree>
    <p:extLst>
      <p:ext uri="{BB962C8B-B14F-4D97-AF65-F5344CB8AC3E}">
        <p14:creationId xmlns:p14="http://schemas.microsoft.com/office/powerpoint/2010/main" val="1368566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2026-07-29T03:59:21.3880000Z</dcterms:created>
  <dcterms:modified xsi:type="dcterms:W3CDTF">2026-07-29T03:59:21.3880000Z</dcterms:modified>
</coreProperties>
</file>